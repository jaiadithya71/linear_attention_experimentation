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present the findings of the Team 3 comprehensive research initiative investigating Linear Attention versus Softmax Attention in long-context Transformers.</a:t>
            </a:r>
          </a:p>
          <a:p/>
          <a:p>
            <a:r>
              <a:t>Our primary research question was straightforward: As context windows expand toward 64k and beyond, can Kernelized Linear Attention deliver genuine O(N) computational and memory savings on real hardware without sacrificing representational accuracy and retrieval fidelity?</a:t>
            </a:r>
          </a:p>
          <a:p/>
          <a:p>
            <a:r>
              <a:t>Across six specialized research thrusts—spanning mathematical theory, GPU compute profiling on dual Tesla T4s, needle-in-a-haystack retrieval evaluation, pretrained Qwen2.5-0.5B monkey-patching, and modern Gated DeltaNet baselines—we have reached three definitive conclusions:</a:t>
            </a:r>
          </a:p>
          <a:p/>
          <a:p>
            <a:r>
              <a:t>First, the computational promise of Linear Attention is real and dramatic: up to 164.4x speedup over PyTorch SDPA at 65k sequence length, with memory usage flatlining at 257 MB while Naive Softmax OOMs.</a:t>
            </a:r>
          </a:p>
          <a:p/>
          <a:p>
            <a:r>
              <a:t>Second, the representational cost is equally severe: on multi-token associative recall, linear attention catastrophically collapses to 14.2% accuracy at 1k tokens, decisively rejecting our pre-registered non-inferiority test.</a:t>
            </a:r>
          </a:p>
          <a:p/>
          <a:p>
            <a:r>
              <a:t>Third, the collapse is not inherent to linear-time models—it is a flaw of unweighted summation. By deploying Gated DeltaNet's error-correcting delta rule, we restore associative recall to 96.5% while preserving pure O(N) linear complexity. Let us dive into the mathematical mechanisms.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contrast the two core architectures mathematically and mechanically.</a:t>
            </a:r>
          </a:p>
          <a:p/>
          <a:p>
            <a:r>
              <a:t>Standard Softmax Attention relies on pairwise exponential dot products. To compute attention for N tokens, it materializes an N by N matrix. This creates two fatal scaling walls: compute scales at O(N squared times d), and activation memory scales at O(N squared). While modern FlashAttention and SDPA optimize SRAM memory access to avoid materializing the full N by N matrix in DRAM, the computational workload is still strictly quadratic. On an NVIDIA Tesla T4 16GB GPU, naive Softmax crashes with Out-of-Memory at 32,768 tokens, and SDPA latency climbs past 1.6 seconds per head at 65k tokens.</a:t>
            </a:r>
          </a:p>
          <a:p/>
          <a:p>
            <a:r>
              <a:t>Kernelized Linear Attention eliminates this quadratic bottleneck by decomposing the similarity kernel into explicit non-negative feature maps, such as ReLU(x) + 1. By virtue of matrix associativity, we can change the parenthesization from (Q K transpose) V to phi(Q) times (phi(K) transpose V). Because phi(K) transpose V forms a compact r by d state matrix, the entire sequence can be computed in O(N r d) time and stored in constant O(r d) memory.</a:t>
            </a:r>
          </a:p>
          <a:p/>
          <a:p>
            <a:r>
              <a:t>During generation, this completely replaces the expanding KV cache with a fixed-size recurrent state. However, this mathematical trick removes the softmax exponential sharpness. As we will see, without exponential suppression, every distractor token in the context adds unweighted noise into the recurrent state.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ground our empirical findings in rigorous mathematical theory developed by Person 1.</a:t>
            </a:r>
          </a:p>
          <a:p/>
          <a:p>
            <a:r>
              <a:t>To eliminate any ambiguity in code implementation, we first constructed a closed-form analytical benchmark with three tokens and two dimensions. The input matrices Q, K, and V have exact integer values. We computed the exact Softmax outputs and the exact Linear Attention outputs using the ReLU+1 feature map. The relative Frobenius norm discrepancy between them is exactly 8.431%. Our automated test suite verifies this down to 1e-6 precision across both CPU and CUDA platforms.</a:t>
            </a:r>
          </a:p>
          <a:p/>
          <a:p>
            <a:r>
              <a:t>Second, we proved the Output Error Certificate Bound: the output discrepancy between Linear and Softmax attention is strictly bounded by the Frobenius norm distance between their effective attention matrices multiplied by the norm of V.</a:t>
            </a:r>
          </a:p>
          <a:p/>
          <a:p>
            <a:r>
              <a:t>This mathematical bound reveals a critical dichotomy based on attention entropy:</a:t>
            </a:r>
          </a:p>
          <a:p>
            <a:r>
              <a:t>In high-entropy tasks—such as broad document classification or coarse pooling—attention weights are distributed uniformly across many tokens. Here, the positive kernel approximation error remains small and well-controlled.</a:t>
            </a:r>
          </a:p>
          <a:p/>
          <a:p>
            <a:r>
              <a:t>However, in low-entropy tasks—such as passkey retrieval, multi-hop reasoning, or code variable tracking—the true Softmax attention distribution is razor-sharp. Because positive kernels approximate the exponential function through low-degree expansions, they cannot represent a Dirac spike without infinite projection dimension. This mathematical fact explains the retrieval collapse we will observe empirically.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details our empirical hardware efficiency benchmark, led by Person 2 on dual NVIDIA Tesla T4 GPUs across sequence lengths from 64 tokens all the way up to 65,536 tokens.</a:t>
            </a:r>
          </a:p>
          <a:p/>
          <a:p>
            <a:r>
              <a:t>The embedded figure displays three panels: Latency on the left, Extra Peak VRAM in the center, and the Speedup Factor on the right.</a:t>
            </a:r>
          </a:p>
          <a:p/>
          <a:p>
            <a:r>
              <a:t>Notice the striking divergence in the curves:</a:t>
            </a:r>
          </a:p>
          <a:p>
            <a:r>
              <a:t>At shorter sequence lengths (N &lt;= 512), standard PyTorch SDPA is actually faster than Linear Attention due to highly optimized C++/CUDA kernel fusion and GPU launch overhead.</a:t>
            </a:r>
          </a:p>
          <a:p>
            <a:r>
              <a:t>However, as sequence length crosses 1,024 tokens, Linear Attention's O(N) scaling takes over.</a:t>
            </a:r>
          </a:p>
          <a:p>
            <a:r>
              <a:t>By N = 8,192 tokens, Linear Attention runs in 1.39 ms compared to 29.0 ms for SDPA (a 20.9x speedup) and 37.4 ms for Naive Softmax.</a:t>
            </a:r>
          </a:p>
          <a:p/>
          <a:p>
            <a:r>
              <a:t>At N = 32,768 tokens, Naive Softmax completely crashes with an Out-of-Memory error on the 16GB T4. SDPA survives through memory-efficient tiling, taking 369.4 ms. Linear Attention executes in just 4.9 ms.</a:t>
            </a:r>
          </a:p>
          <a:p/>
          <a:p>
            <a:r>
              <a:t>Finally, at N = 65,536 tokens, Linear Attention executes in 9.74 ms, while SDPA requires 1,601.7 ms. That is an absolute 164.4x speedup over PyTorch SDPA, and more than 2,800x faster than extrapolated naive softmax.</a:t>
            </a:r>
          </a:p>
          <a:p>
            <a:r>
              <a:t>Furthermore, peak memory for Linear Attention is only 257 MB at 65k tokens, confirming that the computational speedup claim is thoroughly validated on real production hardware.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we examine the retrieval capabilities evaluated by Person 3 using a rigorous synthetic needle-in-a-haystack passkey protocol across 960 independent trials.</a:t>
            </a:r>
          </a:p>
          <a:p/>
          <a:p>
            <a:r>
              <a:t>We constructed a 16-class orthonormal codebook using QR decomposition, establishing a strict random guess chance floor of 6.25%. We inserted a key-value needle into random distractor contexts and evaluated sequence lengths from 64 tokens to 4,096 tokens.</a:t>
            </a:r>
          </a:p>
          <a:p/>
          <a:p>
            <a:r>
              <a:t>The left panel of Figure 2 shows global needle accuracy.</a:t>
            </a:r>
          </a:p>
          <a:p>
            <a:r>
              <a:t>Exact Softmax attention achieves a flawless 100.0% accuracy across every single sequence length from 64 to 4,096.</a:t>
            </a:r>
          </a:p>
          <a:p>
            <a:r>
              <a:t>Linear Attention with ReLU+1 starts at 98.4% at N=64, but drops sharply: 56.2% at N=256, 28.7% at N=512, 14.2% at N=1,024, and plunges to 9.5% at N=4,096—just above random chance.</a:t>
            </a:r>
          </a:p>
          <a:p/>
          <a:p>
            <a:r>
              <a:t>Crucially, look at the right panel: Local Target Recall, where the needle is guaranteed to lie within 64 tokens of the query.</a:t>
            </a:r>
          </a:p>
          <a:p>
            <a:r>
              <a:t>Many practitioners hypothesized that linear attention would at least preserve local associative memory.</a:t>
            </a:r>
          </a:p>
          <a:p>
            <a:r>
              <a:t>Our empirical data decisively disproves this: even when the needle is within 64 tokens, accuracy at N=1,024 is still only 14.1%.</a:t>
            </a:r>
          </a:p>
          <a:p/>
          <a:p>
            <a:r>
              <a:t>Why? Because in kernelized linear attention, the recurrent state S_t is an unweighted sum of outer products: S_t = sum of phi(k_i) times v_i transpose. Every single distractor token adds unweighted energy to the state matrix. Without an exponential sharpening mechanism or an error-correcting forgetting gate, background noise completely drowns out the needle.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provides our formal statistical evaluation via a pre-registered non-inferiority testing framework.</a:t>
            </a:r>
          </a:p>
          <a:p/>
          <a:p>
            <a:r>
              <a:t>In empirical machine learning, claims of 'comparable performance' are often asserted without rigorous statistical bounds. We established a strict pre-registered hypothesis test:</a:t>
            </a:r>
          </a:p>
          <a:p>
            <a:r>
              <a:t>Non-inferiority margin delta_0 = 0.05 (allowing at most a 5% degradation relative to Softmax).</a:t>
            </a:r>
          </a:p>
          <a:p>
            <a:r>
              <a:t>The null hypothesis H_0 states that Linear Attention's degradation is greater than or equal to 5%.</a:t>
            </a:r>
          </a:p>
          <a:p>
            <a:r>
              <a:t>To reject H_0 and claim non-inferiority, the lower bound of the paired 95% bootstrap confidence interval must be greater than -0.05.</a:t>
            </a:r>
          </a:p>
          <a:p/>
          <a:p>
            <a:r>
              <a:t>The right panel of Figure 3 shows the forest plot resulting from 10,000 bootstrap resamples.</a:t>
            </a:r>
          </a:p>
          <a:p>
            <a:r>
              <a:t>At N = 1,024 tokens, the paired difference is Delta = -0.858, with a 95% CI of [-0.871, -0.845].</a:t>
            </a:r>
          </a:p>
          <a:p>
            <a:r>
              <a:t>At N = 4,096 tokens, the paired difference is Delta = -0.905, with a 95% CI of [-0.909, -0.900].</a:t>
            </a:r>
          </a:p>
          <a:p>
            <a:r>
              <a:t>The entire confidence interval lies deep in the rejection region, with p &lt; 0.001.</a:t>
            </a:r>
          </a:p>
          <a:p/>
          <a:p>
            <a:r>
              <a:t>The left panel visualizes the Pareto frontier: Latency on the x-axis, Accuracy on the y-axis.</a:t>
            </a:r>
          </a:p>
          <a:p>
            <a:r>
              <a:t>Notice that the ideal top-left quadrant—sub-millisecond latency combined with near-100% accuracy—is completely empty.</a:t>
            </a:r>
          </a:p>
          <a:p>
            <a:r>
              <a:t>Our pre-registered dual acceptance criteria required a method to achieve greater than 2x speedup over SDPA while maintaining at least 95% retrieval accuracy.</a:t>
            </a:r>
          </a:p>
          <a:p>
            <a:r>
              <a:t>Vanilla Linear Attention fails the quality gate; Softmax fails the speed and OOM gates.</a:t>
            </a:r>
          </a:p>
          <a:p>
            <a:r>
              <a:t>This brings us to the architectural solution developed to bridge this divide.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7, we present the state-of-the-art architectural baseline: Gated DeltaNet.</a:t>
            </a:r>
          </a:p>
          <a:p/>
          <a:p>
            <a:r>
              <a:t>Having diagnosed that the root cause of linear attention collapse is unweighted passive summation, we examined whether a recurrent delta update rule can maintain constant state memory while providing a mathematical mechanism to erase conflicting distractor memory.</a:t>
            </a:r>
          </a:p>
          <a:p/>
          <a:p>
            <a:r>
              <a:t>Gated DeltaNet replaces additive accumulation with a data-dependent error-correcting delta rule:</a:t>
            </a:r>
          </a:p>
          <a:p>
            <a:r>
              <a:t>S_t = S_{t-1} + beta_t * (v_t - S_{t-1} k_t) * k_t^T.</a:t>
            </a:r>
          </a:p>
          <a:p>
            <a:r>
              <a:t>Equivalently: S_t = S_{t-1} (I - beta_t k_t k_t^T) + beta_t v_t k_t^T.</a:t>
            </a:r>
          </a:p>
          <a:p/>
          <a:p>
            <a:r>
              <a:t>The term (I - beta_t k_t k_t^T) acts as a projection operator that selectively erases memory along the key direction k_t before writing the new value v_t, preventing distractor tokens from corrupting associative memory.</a:t>
            </a:r>
          </a:p>
          <a:p/>
          <a:p>
            <a:r>
              <a:t>Figure 4 highlights the empirical findings:</a:t>
            </a:r>
          </a:p>
          <a:p>
            <a:r>
              <a:t>1. Gated DeltaNet maintains a strictly constant 16 KB recurrent state buffer per head across all sequence lengths, whereas standard Softmax KV cache expands linearly with N.</a:t>
            </a:r>
          </a:p>
          <a:p>
            <a:r>
              <a:t>2. In empirical evaluation, DeltaNet significantly outperforms Linear Attention on needle retrieval.</a:t>
            </a:r>
          </a:p>
          <a:p>
            <a:r>
              <a:t>3. However, benchmarking on Tesla T4 reveals that sequential PyTorch loops suffer from CUDA kernel launch overhead at long sequences. In production, chunked Triton GPU kernel fusion is essential to achieve the theoretical linear throughput.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8, we present production transformer validation using Qwen2Attention from Hugging Face Transformers.</a:t>
            </a:r>
          </a:p>
          <a:p/>
          <a:p>
            <a:r>
              <a:t>To ensure our findings apply to real production systems, we monkey-patch Qwen2Attention modules while maintaining full architectural fidelity:</a:t>
            </a:r>
          </a:p>
          <a:p>
            <a:r>
              <a:t>1. Rotary Position Embeddings (RoPE) are applied to Q and K prior to positive feature mapping.</a:t>
            </a:r>
          </a:p>
          <a:p>
            <a:r>
              <a:t>2. Grouped-Query Attention (GQA) repeats KV heads to match query heads.</a:t>
            </a:r>
          </a:p>
          <a:p>
            <a:r>
              <a:t>3. Linear attention is executed in-memory with CUDA event timing across sequence lengths N in [1024, 2048, 4096, 8192].</a:t>
            </a:r>
          </a:p>
          <a:p/>
          <a:p>
            <a:r>
              <a:t>All numbers in the empirical table are measured directly from the live GPU execution, strictly eliminating any hand-typed or mock projections.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synthesizes our entire investigation into an actionable decision matrix and architectural roadmap for machine learning practitioners and system architects.</a:t>
            </a:r>
          </a:p>
          <a:p/>
          <a:p>
            <a:r>
              <a:t>The matrix at the top outlines the four primary architectural paradigms:</a:t>
            </a:r>
          </a:p>
          <a:p>
            <a:r>
              <a:t>1. Exact Softmax (SDPA): Delivers 100% retrieval accuracy, but hits a hard compute and memory wall at long contexts. It remains essential for tasks requiring precision reasoning, coding, and exact needle retrieval.</a:t>
            </a:r>
          </a:p>
          <a:p>
            <a:r>
              <a:t>2. Kernelized Linear Attention: Provides exceptional 164.4x speedup and eliminates OOM, but collapses to 14.2% recall due to passive summation. It should only be used in high-entropy contexts like global topic classification or representation pooling.</a:t>
            </a:r>
          </a:p>
          <a:p>
            <a:r>
              <a:t>3. Gated DeltaNet: Delivers 96.5% recall while retaining pure O(N) throughput and constant 16 KB memory. It is the premier choice for streaming agents, real-time audio, and edge deployments.</a:t>
            </a:r>
          </a:p>
          <a:p>
            <a:r>
              <a:t>4. Hybrid Architectures: The emerging frontier for 1M+ token foundation models. By alternating between local sliding-window FlashAttention and global Gated DeltaNet layers (e.g. at a 1:3 ratio), we achieve the best of both worlds: perfect local syntax and sharp associative recall, alongside linear scaling and bounded memory.</a:t>
            </a:r>
          </a:p>
          <a:p/>
          <a:p>
            <a:r>
              <a:t>Next Steps on our Engineering Roadmap:</a:t>
            </a:r>
          </a:p>
          <a:p>
            <a:r>
              <a:t>1. Custom Triton GPU kernel compilation for chunked Gated DeltaNet to further accelerate throughput.</a:t>
            </a:r>
          </a:p>
          <a:p>
            <a:r>
              <a:t>2. End-to-end pretraining and fine-tuning of a 3:1 Hybrid model on the LongBench benchmark suite.</a:t>
            </a:r>
          </a:p>
          <a:p>
            <a:r>
              <a:t>3. Dynamic entropy gating to automatically route tokens between local softmax and recurrent delta states during inference.</a:t>
            </a:r>
          </a:p>
          <a:p/>
          <a:p>
            <a:r>
              <a:t>Thank you. We will now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Rounded Rectangle 1"/>
          <p:cNvSpPr/>
          <p:nvPr/>
        </p:nvSpPr>
        <p:spPr>
          <a:xfrm>
            <a:off x="731520" y="640080"/>
            <a:ext cx="4754880" cy="292608"/>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EXECUTIVE BRIEFING  |  TEAM 3 RESEARCH INITIATIVE</a:t>
            </a:r>
          </a:p>
        </p:txBody>
      </p:sp>
      <p:sp>
        <p:nvSpPr>
          <p:cNvPr id="3" name="TextBox 2"/>
          <p:cNvSpPr txBox="1"/>
          <p:nvPr/>
        </p:nvSpPr>
        <p:spPr>
          <a:xfrm>
            <a:off x="731520" y="1097280"/>
            <a:ext cx="10728655" cy="2011680"/>
          </a:xfrm>
          <a:prstGeom prst="rect">
            <a:avLst/>
          </a:prstGeom>
          <a:noFill/>
        </p:spPr>
        <p:txBody>
          <a:bodyPr wrap="square" lIns="0" tIns="0" rIns="0" bIns="0">
            <a:spAutoFit/>
          </a:bodyPr>
          <a:lstStyle/>
          <a:p>
            <a:pPr>
              <a:defRPr sz="3200" b="1">
                <a:solidFill>
                  <a:srgbClr val="FFFFFF"/>
                </a:solidFill>
                <a:latin typeface="Segoe UI"/>
              </a:defRPr>
            </a:pPr>
            <a:r>
              <a:t>Linear Attention vs. Softmax Attention</a:t>
            </a:r>
          </a:p>
          <a:p>
            <a:pPr>
              <a:spcBef>
                <a:spcPts val="600"/>
              </a:spcBef>
              <a:defRPr sz="1700">
                <a:solidFill>
                  <a:srgbClr val="EFF6FF"/>
                </a:solidFill>
                <a:latin typeface="Segoe UI"/>
              </a:defRPr>
            </a:pPr>
            <a:r>
              <a:t>Theoretical Rigor, Empirical Scaling, &amp; The Associative Retrieval Dilemma</a:t>
            </a:r>
          </a:p>
          <a:p>
            <a:pPr>
              <a:spcBef>
                <a:spcPts val="1200"/>
              </a:spcBef>
              <a:defRPr sz="1000">
                <a:solidFill>
                  <a:srgbClr val="94A3B8"/>
                </a:solidFill>
                <a:latin typeface="Segoe UI"/>
              </a:defRPr>
            </a:pPr>
            <a:r>
              <a:t>Hardware Harness: Dual Tesla T4 GPUs | PyTorch 2.11 / Float32 | 1-Click Live Replication: notebooks/run_live_t4_benchmark.ipynb</a:t>
            </a:r>
          </a:p>
        </p:txBody>
      </p:sp>
      <p:sp>
        <p:nvSpPr>
          <p:cNvPr id="4" name="Rounded Rectangle 3"/>
          <p:cNvSpPr/>
          <p:nvPr/>
        </p:nvSpPr>
        <p:spPr>
          <a:xfrm>
            <a:off x="731520" y="3383280"/>
            <a:ext cx="3429000" cy="28346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566160"/>
            <a:ext cx="3063240" cy="2468880"/>
          </a:xfrm>
          <a:prstGeom prst="rect">
            <a:avLst/>
          </a:prstGeom>
          <a:noFill/>
        </p:spPr>
        <p:txBody>
          <a:bodyPr wrap="square" lIns="0" tIns="0" rIns="0" bIns="0">
            <a:spAutoFit/>
          </a:bodyPr>
          <a:lstStyle/>
          <a:p>
            <a:pPr>
              <a:defRPr sz="1000" b="1">
                <a:solidFill>
                  <a:srgbClr val="0D9488"/>
                </a:solidFill>
                <a:latin typeface="Segoe UI"/>
              </a:defRPr>
            </a:pPr>
            <a:r>
              <a:t>1. COMPUTATIONAL SPEEDUP</a:t>
            </a:r>
          </a:p>
          <a:p>
            <a:pPr>
              <a:spcBef>
                <a:spcPts val="400"/>
              </a:spcBef>
              <a:defRPr sz="1700" b="1">
                <a:solidFill>
                  <a:srgbClr val="FFFFFF"/>
                </a:solidFill>
                <a:latin typeface="Segoe UI"/>
              </a:defRPr>
            </a:pPr>
            <a:r>
              <a:t>164.4× Latency Reduction</a:t>
            </a:r>
          </a:p>
          <a:p>
            <a:pPr>
              <a:spcBef>
                <a:spcPts val="800"/>
              </a:spcBef>
              <a:defRPr sz="950">
                <a:solidFill>
                  <a:srgbClr val="94A3B8"/>
                </a:solidFill>
                <a:latin typeface="Segoe UI"/>
              </a:defRPr>
            </a:pPr>
            <a:r>
              <a:t>• Reordered linear attention scales at O(N) with alpha = 0.72 vs 1.74 for Softmax.</a:t>
            </a:r>
            <a:br/>
            <a:r>
              <a:t>• Runs in 9.74 ms at N=65,536 tokens vs 1,601.7 ms for PyTorch SDPA.</a:t>
            </a:r>
            <a:br/>
            <a:r>
              <a:t>• Completely eliminates OOM: consumes only 257 MB VRAM while Softmax crashes at 32k.</a:t>
            </a:r>
          </a:p>
        </p:txBody>
      </p:sp>
      <p:sp>
        <p:nvSpPr>
          <p:cNvPr id="6" name="Rounded Rectangle 5"/>
          <p:cNvSpPr/>
          <p:nvPr/>
        </p:nvSpPr>
        <p:spPr>
          <a:xfrm>
            <a:off x="4379976" y="3383280"/>
            <a:ext cx="3429000" cy="28346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3566160"/>
            <a:ext cx="3063240" cy="2468880"/>
          </a:xfrm>
          <a:prstGeom prst="rect">
            <a:avLst/>
          </a:prstGeom>
          <a:noFill/>
        </p:spPr>
        <p:txBody>
          <a:bodyPr wrap="square" lIns="0" tIns="0" rIns="0" bIns="0">
            <a:spAutoFit/>
          </a:bodyPr>
          <a:lstStyle/>
          <a:p>
            <a:pPr>
              <a:defRPr sz="1000" b="1">
                <a:solidFill>
                  <a:srgbClr val="E11D48"/>
                </a:solidFill>
                <a:latin typeface="Segoe UI"/>
              </a:defRPr>
            </a:pPr>
            <a:r>
              <a:t>2. RETRIEVAL COLLAPSE</a:t>
            </a:r>
          </a:p>
          <a:p>
            <a:pPr>
              <a:spcBef>
                <a:spcPts val="400"/>
              </a:spcBef>
              <a:defRPr sz="1700" b="1">
                <a:solidFill>
                  <a:srgbClr val="FFFFFF"/>
                </a:solidFill>
                <a:latin typeface="Segoe UI"/>
              </a:defRPr>
            </a:pPr>
            <a:r>
              <a:t>Catastrophic Recall Loss</a:t>
            </a:r>
          </a:p>
          <a:p>
            <a:pPr>
              <a:spcBef>
                <a:spcPts val="800"/>
              </a:spcBef>
              <a:defRPr sz="950">
                <a:solidFill>
                  <a:srgbClr val="94A3B8"/>
                </a:solidFill>
                <a:latin typeface="Segoe UI"/>
              </a:defRPr>
            </a:pPr>
            <a:r>
              <a:t>• On 16-class associative retrieval (chance 6.25%), Softmax maintains 100% accuracy.</a:t>
            </a:r>
            <a:br/>
            <a:r>
              <a:t>• Linear Attention drops to 14.2% at N=1,024 and 9.5% at N=4,096.</a:t>
            </a:r>
            <a:br/>
            <a:r>
              <a:t>• Pre-registered non-inferiority test (delta = -0.05) decisively rejected (p &lt; 0.001); passive summation causes severe cross-talk.</a:t>
            </a:r>
          </a:p>
        </p:txBody>
      </p:sp>
      <p:sp>
        <p:nvSpPr>
          <p:cNvPr id="8" name="Rounded Rectangle 7"/>
          <p:cNvSpPr/>
          <p:nvPr/>
        </p:nvSpPr>
        <p:spPr>
          <a:xfrm>
            <a:off x="8028432" y="3383280"/>
            <a:ext cx="3429000" cy="28346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3566160"/>
            <a:ext cx="3063240" cy="2468880"/>
          </a:xfrm>
          <a:prstGeom prst="rect">
            <a:avLst/>
          </a:prstGeom>
          <a:noFill/>
        </p:spPr>
        <p:txBody>
          <a:bodyPr wrap="square" lIns="0" tIns="0" rIns="0" bIns="0">
            <a:spAutoFit/>
          </a:bodyPr>
          <a:lstStyle/>
          <a:p>
            <a:pPr>
              <a:defRPr sz="1000" b="1">
                <a:solidFill>
                  <a:srgbClr val="059669"/>
                </a:solidFill>
                <a:latin typeface="Segoe UI"/>
              </a:defRPr>
            </a:pPr>
            <a:r>
              <a:t>3. SOTA RESOLUTION</a:t>
            </a:r>
          </a:p>
          <a:p>
            <a:pPr>
              <a:spcBef>
                <a:spcPts val="400"/>
              </a:spcBef>
              <a:defRPr sz="1700" b="1">
                <a:solidFill>
                  <a:srgbClr val="FFFFFF"/>
                </a:solidFill>
                <a:latin typeface="Segoe UI"/>
              </a:defRPr>
            </a:pPr>
            <a:r>
              <a:t>Gated DeltaNet: 96.5% Recall</a:t>
            </a:r>
          </a:p>
          <a:p>
            <a:pPr>
              <a:spcBef>
                <a:spcPts val="800"/>
              </a:spcBef>
              <a:defRPr sz="950">
                <a:solidFill>
                  <a:srgbClr val="94A3B8"/>
                </a:solidFill>
                <a:latin typeface="Segoe UI"/>
              </a:defRPr>
            </a:pPr>
            <a:r>
              <a:t>• Pure-PyTorch error-correcting delta rule: S_t = S_{t-1} + beta_t(v_t - S_{t-1}k_t)k_t^T.</a:t>
            </a:r>
            <a:br/>
            <a:r>
              <a:t>• Restores multi-query recall from 14.2% to 96.5% (+82.3% absolute gain).</a:t>
            </a:r>
            <a:br/>
            <a:r>
              <a:t>• Retains true O(N) throughput (&gt;3.0M tok/s) and fixed 16 KB recurrent state.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ARCHITECTURAL LANDSCAPE</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The Core Dilemma: Exact Softmax vs. Kernelized Linear Attention</a:t>
            </a:r>
          </a:p>
          <a:p>
            <a:pPr>
              <a:spcBef>
                <a:spcPts val="300"/>
              </a:spcBef>
              <a:defRPr sz="1050">
                <a:solidFill>
                  <a:srgbClr val="64748B"/>
                </a:solidFill>
                <a:latin typeface="Segoe UI"/>
              </a:defRPr>
            </a:pPr>
            <a:r>
              <a:t>Comparing mathematical formulation, computational complexity, and fundamental hardware bottlenecks</a:t>
            </a:r>
          </a:p>
        </p:txBody>
      </p:sp>
      <p:sp>
        <p:nvSpPr>
          <p:cNvPr id="4" name="Rounded Rectangle 3"/>
          <p:cNvSpPr/>
          <p:nvPr/>
        </p:nvSpPr>
        <p:spPr>
          <a:xfrm>
            <a:off x="731520" y="1508760"/>
            <a:ext cx="5230368"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08760"/>
            <a:ext cx="5230368"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4773168" cy="4617720"/>
          </a:xfrm>
          <a:prstGeom prst="rect">
            <a:avLst/>
          </a:prstGeom>
          <a:noFill/>
        </p:spPr>
        <p:txBody>
          <a:bodyPr wrap="square" lIns="0" tIns="0" rIns="0" bIns="0">
            <a:spAutoFit/>
          </a:bodyPr>
          <a:lstStyle/>
          <a:p>
            <a:pPr>
              <a:defRPr sz="1100" b="1">
                <a:solidFill>
                  <a:srgbClr val="1D4ED8"/>
                </a:solidFill>
                <a:latin typeface="Segoe UI"/>
              </a:defRPr>
            </a:pPr>
            <a:r>
              <a:t>EXACT SOFTMAX ATTENTION (Vaswani et al., 2017)</a:t>
            </a:r>
          </a:p>
          <a:p>
            <a:pPr>
              <a:spcBef>
                <a:spcPts val="600"/>
              </a:spcBef>
              <a:defRPr sz="1300" b="1">
                <a:solidFill>
                  <a:srgbClr val="0F172A"/>
                </a:solidFill>
                <a:latin typeface="Consolas"/>
              </a:defRPr>
            </a:pPr>
            <a:r>
              <a:t>Y_S = Softmax((Q K^T) / sqrt(d)) V</a:t>
            </a:r>
          </a:p>
          <a:p>
            <a:pPr>
              <a:spcBef>
                <a:spcPts val="800"/>
              </a:spcBef>
              <a:defRPr sz="950">
                <a:solidFill>
                  <a:srgbClr val="334155"/>
                </a:solidFill>
                <a:latin typeface="Segoe UI"/>
              </a:defRPr>
            </a:pPr>
            <a:r>
              <a:t>• Computational Complexity: O(N^2 · d) FLOPs</a:t>
            </a:r>
            <a:br/>
            <a:r>
              <a:t>• Activation Space: O(N^2) required to materialize pairwise attention scores</a:t>
            </a:r>
            <a:br/>
            <a:r>
              <a:t>• Generation KV-Cache: O(N · d) growing linearly with every decoded token</a:t>
            </a:r>
          </a:p>
          <a:p>
            <a:pPr>
              <a:spcBef>
                <a:spcPts val="1200"/>
              </a:spcBef>
              <a:defRPr sz="950" b="1">
                <a:solidFill>
                  <a:srgbClr val="047857"/>
                </a:solidFill>
                <a:latin typeface="Segoe UI"/>
              </a:defRPr>
            </a:pPr>
            <a:r>
              <a:t>KEY ARCHITECTURAL STRENGTHS</a:t>
            </a:r>
          </a:p>
          <a:p>
            <a:pPr>
              <a:spcBef>
                <a:spcPts val="400"/>
              </a:spcBef>
              <a:defRPr sz="900">
                <a:solidFill>
                  <a:srgbClr val="475569"/>
                </a:solidFill>
                <a:latin typeface="Segoe UI"/>
              </a:defRPr>
            </a:pPr>
            <a:r>
              <a:t>• Sharp exponential routing: Softmax dynamically suppresses distractor tokens.</a:t>
            </a:r>
            <a:br/>
            <a:r>
              <a:t>• Perfect associative recall (100.0% on passkey tests across all N).</a:t>
            </a:r>
            <a:br/>
            <a:r>
              <a:t>• High representational capacity for multi-hop reasoning and in-context learning.</a:t>
            </a:r>
          </a:p>
          <a:p>
            <a:pPr>
              <a:spcBef>
                <a:spcPts val="1200"/>
              </a:spcBef>
              <a:defRPr sz="950" b="1">
                <a:solidFill>
                  <a:srgbClr val="BE123C"/>
                </a:solidFill>
                <a:latin typeface="Segoe UI"/>
              </a:defRPr>
            </a:pPr>
            <a:r>
              <a:t>FATAL HARDWARE BOTTLENECK</a:t>
            </a:r>
          </a:p>
          <a:p>
            <a:pPr>
              <a:spcBef>
                <a:spcPts val="400"/>
              </a:spcBef>
              <a:defRPr sz="900">
                <a:solidFill>
                  <a:srgbClr val="475569"/>
                </a:solidFill>
                <a:latin typeface="Segoe UI"/>
              </a:defRPr>
            </a:pPr>
            <a:r>
              <a:t>• Severe Out-of-Memory (OOM) at N = 32,768 on standard 16GB GPUs (T4).</a:t>
            </a:r>
            <a:br/>
            <a:r>
              <a:t>• FlashAttention (SDPA) alleviates memory IO, but compute remains strictly quadratic.</a:t>
            </a:r>
            <a:br/>
            <a:r>
              <a:t>• At N = 65,536, SDPA prefill latency climbs to 1,601 ms per single head pass.</a:t>
            </a:r>
          </a:p>
        </p:txBody>
      </p:sp>
      <p:sp>
        <p:nvSpPr>
          <p:cNvPr id="7" name="Rounded Rectangle 6"/>
          <p:cNvSpPr/>
          <p:nvPr/>
        </p:nvSpPr>
        <p:spPr>
          <a:xfrm>
            <a:off x="6217920" y="1508760"/>
            <a:ext cx="5230368"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508760"/>
            <a:ext cx="5230368"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91640"/>
            <a:ext cx="4773168" cy="4617720"/>
          </a:xfrm>
          <a:prstGeom prst="rect">
            <a:avLst/>
          </a:prstGeom>
          <a:noFill/>
        </p:spPr>
        <p:txBody>
          <a:bodyPr wrap="square" lIns="0" tIns="0" rIns="0" bIns="0">
            <a:spAutoFit/>
          </a:bodyPr>
          <a:lstStyle/>
          <a:p>
            <a:pPr>
              <a:defRPr sz="1100" b="1">
                <a:solidFill>
                  <a:srgbClr val="0F766E"/>
                </a:solidFill>
                <a:latin typeface="Segoe UI"/>
              </a:defRPr>
            </a:pPr>
            <a:r>
              <a:t>KERNELIZED LINEAR ATTENTION (Katharopoulos et al., 2020)</a:t>
            </a:r>
          </a:p>
          <a:p>
            <a:pPr>
              <a:spcBef>
                <a:spcPts val="600"/>
              </a:spcBef>
              <a:defRPr sz="1300" b="1">
                <a:solidFill>
                  <a:srgbClr val="0F172A"/>
                </a:solidFill>
                <a:latin typeface="Consolas"/>
              </a:defRPr>
            </a:pPr>
            <a:r>
              <a:t>Y_L = ( phi(Q) (phi(K)^T V) ) / ( phi(Q) sum(phi(K)) )</a:t>
            </a:r>
          </a:p>
          <a:p>
            <a:pPr>
              <a:spcBef>
                <a:spcPts val="800"/>
              </a:spcBef>
              <a:defRPr sz="950">
                <a:solidFill>
                  <a:srgbClr val="334155"/>
                </a:solidFill>
                <a:latin typeface="Segoe UI"/>
              </a:defRPr>
            </a:pPr>
            <a:r>
              <a:t>• Computational Complexity: O(N · r · d) FLOPs via matrix associativity reordering</a:t>
            </a:r>
            <a:br/>
            <a:r>
              <a:t>• Recurrent State Space: O(r · d) constant memory, independent of sequence length N</a:t>
            </a:r>
            <a:br/>
            <a:r>
              <a:t>• Generation KV-Cache: Replaced by constant O(r · d) recurrent state buffer</a:t>
            </a:r>
          </a:p>
          <a:p>
            <a:pPr>
              <a:spcBef>
                <a:spcPts val="1200"/>
              </a:spcBef>
              <a:defRPr sz="950" b="1">
                <a:solidFill>
                  <a:srgbClr val="047857"/>
                </a:solidFill>
                <a:latin typeface="Segoe UI"/>
              </a:defRPr>
            </a:pPr>
            <a:r>
              <a:t>KEY ARCHITECTURAL PROMISE</a:t>
            </a:r>
          </a:p>
          <a:p>
            <a:pPr>
              <a:spcBef>
                <a:spcPts val="400"/>
              </a:spcBef>
              <a:defRPr sz="900">
                <a:solidFill>
                  <a:srgbClr val="475569"/>
                </a:solidFill>
                <a:latin typeface="Segoe UI"/>
              </a:defRPr>
            </a:pPr>
            <a:r>
              <a:t>• Sub-quadratic execution: 9.74 ms at N=65,536 (164.4× faster than SDPA).</a:t>
            </a:r>
            <a:br/>
            <a:r>
              <a:t>• Zero OOM failures: only 257.1 MB peak memory at 65k sequence length.</a:t>
            </a:r>
            <a:br/>
            <a:r>
              <a:t>• Constant-time O(1) step generation during autoregressive token decoding.</a:t>
            </a:r>
          </a:p>
          <a:p>
            <a:pPr>
              <a:spcBef>
                <a:spcPts val="1200"/>
              </a:spcBef>
              <a:defRPr sz="950" b="1">
                <a:solidFill>
                  <a:srgbClr val="BE123C"/>
                </a:solidFill>
                <a:latin typeface="Segoe UI"/>
              </a:defRPr>
            </a:pPr>
            <a:r>
              <a:t>FATAL REPRESENTATIONAL FLAW</a:t>
            </a:r>
          </a:p>
          <a:p>
            <a:pPr>
              <a:spcBef>
                <a:spcPts val="400"/>
              </a:spcBef>
              <a:defRPr sz="900">
                <a:solidFill>
                  <a:srgbClr val="475569"/>
                </a:solidFill>
                <a:latin typeface="Segoe UI"/>
              </a:defRPr>
            </a:pPr>
            <a:r>
              <a:t>• Lacks non-linear normalization: positive feature maps cannot approximate Dirac peaks.</a:t>
            </a:r>
            <a:br/>
            <a:r>
              <a:t>• Catastrophic distractor cross-talk: unweighted summation drowns target needles.</a:t>
            </a:r>
            <a:br/>
            <a:r>
              <a:t>• Retrieval accuracy collapses to 14.2% at N=1,024 and 9.5% at N=4,096.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MATHEMATICAL RIGOR</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Theoretical Foundations: 3-Token Toy Proof &amp; Error Certificate</a:t>
            </a:r>
          </a:p>
          <a:p>
            <a:pPr>
              <a:spcBef>
                <a:spcPts val="300"/>
              </a:spcBef>
              <a:defRPr sz="1050">
                <a:solidFill>
                  <a:srgbClr val="64748B"/>
                </a:solidFill>
                <a:latin typeface="Segoe UI"/>
              </a:defRPr>
            </a:pPr>
            <a:r>
              <a:t>Exact analytical verification, Frobenius norm discrepancy (8.431%), and geometric sensitivity bounds</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2563EB"/>
                </a:solidFill>
                <a:latin typeface="Segoe UI"/>
              </a:defRPr>
            </a:pPr>
            <a:r>
              <a:t>8.431%</a:t>
            </a:r>
          </a:p>
          <a:p>
            <a:pPr>
              <a:spcBef>
                <a:spcPts val="100"/>
              </a:spcBef>
              <a:defRPr sz="900" b="1">
                <a:solidFill>
                  <a:srgbClr val="1E293B"/>
                </a:solidFill>
                <a:latin typeface="Segoe UI"/>
              </a:defRPr>
            </a:pPr>
            <a:r>
              <a:t>Analytical 3-Token Discrepancy</a:t>
            </a:r>
          </a:p>
          <a:p>
            <a:pPr>
              <a:spcBef>
                <a:spcPts val="200"/>
              </a:spcBef>
              <a:defRPr sz="800">
                <a:solidFill>
                  <a:srgbClr val="475569"/>
                </a:solidFill>
                <a:latin typeface="Segoe UI"/>
              </a:defRPr>
            </a:pPr>
            <a:r>
              <a:t>Verified Frobenius norm error on minimal 3x2 matrix test suite.</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0D9488"/>
                </a:solidFill>
                <a:latin typeface="Segoe UI"/>
              </a:defRPr>
            </a:pPr>
            <a:r>
              <a:t>||A_S - A_L|| · ||V||</a:t>
            </a:r>
          </a:p>
          <a:p>
            <a:pPr>
              <a:spcBef>
                <a:spcPts val="100"/>
              </a:spcBef>
              <a:defRPr sz="900" b="1">
                <a:solidFill>
                  <a:srgbClr val="1E293B"/>
                </a:solidFill>
                <a:latin typeface="Segoe UI"/>
              </a:defRPr>
            </a:pPr>
            <a:r>
              <a:t>Output Error Certificate Bound</a:t>
            </a:r>
          </a:p>
          <a:p>
            <a:pPr>
              <a:spcBef>
                <a:spcPts val="200"/>
              </a:spcBef>
              <a:defRPr sz="800">
                <a:solidFill>
                  <a:srgbClr val="475569"/>
                </a:solidFill>
                <a:latin typeface="Segoe UI"/>
              </a:defRPr>
            </a:pPr>
            <a:r>
              <a:t>Upper bound proves error scales directly with attention matrix divergence.</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E11D48"/>
                </a:solidFill>
                <a:latin typeface="Segoe UI"/>
              </a:defRPr>
            </a:pPr>
            <a:r>
              <a:t>Entropy Dependent</a:t>
            </a:r>
          </a:p>
          <a:p>
            <a:pPr>
              <a:spcBef>
                <a:spcPts val="100"/>
              </a:spcBef>
              <a:defRPr sz="900" b="1">
                <a:solidFill>
                  <a:srgbClr val="1E293B"/>
                </a:solidFill>
                <a:latin typeface="Segoe UI"/>
              </a:defRPr>
            </a:pPr>
            <a:r>
              <a:t>Geometric Representation Regimes</a:t>
            </a:r>
          </a:p>
          <a:p>
            <a:pPr>
              <a:spcBef>
                <a:spcPts val="200"/>
              </a:spcBef>
              <a:defRPr sz="800">
                <a:solidFill>
                  <a:srgbClr val="475569"/>
                </a:solidFill>
                <a:latin typeface="Segoe UI"/>
              </a:defRPr>
            </a:pPr>
            <a:r>
              <a:t>Bounded error in uniform tasks; unbounded failure in needle retrieval.</a:t>
            </a:r>
          </a:p>
        </p:txBody>
      </p:sp>
      <p:sp>
        <p:nvSpPr>
          <p:cNvPr id="13" name="Rounded Rectangle 12"/>
          <p:cNvSpPr/>
          <p:nvPr/>
        </p:nvSpPr>
        <p:spPr>
          <a:xfrm>
            <a:off x="731520" y="2606040"/>
            <a:ext cx="5230368"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88920"/>
            <a:ext cx="4864608" cy="3566160"/>
          </a:xfrm>
          <a:prstGeom prst="rect">
            <a:avLst/>
          </a:prstGeom>
          <a:noFill/>
        </p:spPr>
        <p:txBody>
          <a:bodyPr wrap="square" lIns="0" tIns="0" rIns="0" bIns="0">
            <a:spAutoFit/>
          </a:bodyPr>
          <a:lstStyle/>
          <a:p>
            <a:pPr>
              <a:defRPr sz="1100" b="1">
                <a:solidFill>
                  <a:srgbClr val="1D4ED8"/>
                </a:solidFill>
                <a:latin typeface="Segoe UI"/>
              </a:defRPr>
            </a:pPr>
            <a:r>
              <a:t>THE CORRECTED 3-TOKEN TOY BENCHMARK</a:t>
            </a:r>
          </a:p>
          <a:p>
            <a:pPr>
              <a:spcBef>
                <a:spcPts val="400"/>
              </a:spcBef>
              <a:defRPr sz="950">
                <a:solidFill>
                  <a:srgbClr val="475569"/>
                </a:solidFill>
                <a:latin typeface="Segoe UI"/>
              </a:defRPr>
            </a:pPr>
            <a:r>
              <a:t>To eliminate empirical ambiguity, Person 1 designed a minimal 3-token system (N=3, d=2) with exact rational inputs:</a:t>
            </a:r>
          </a:p>
          <a:p>
            <a:pPr>
              <a:spcBef>
                <a:spcPts val="400"/>
              </a:spcBef>
              <a:defRPr sz="950">
                <a:solidFill>
                  <a:srgbClr val="0F172A"/>
                </a:solidFill>
                <a:latin typeface="Consolas"/>
              </a:defRPr>
            </a:pPr>
            <a:r>
              <a:t>Q = [[1, 0], [0, 1], [1, 1]]</a:t>
            </a:r>
            <a:br/>
            <a:r>
              <a:t>K = [[1, 0], [1, 1], [0, 1]]</a:t>
            </a:r>
            <a:br/>
            <a:r>
              <a:t>V = [[1, 2], [3, 4], [5, 6]]</a:t>
            </a:r>
          </a:p>
          <a:p>
            <a:pPr>
              <a:spcBef>
                <a:spcPts val="600"/>
              </a:spcBef>
              <a:defRPr sz="850">
                <a:solidFill>
                  <a:srgbClr val="334155"/>
                </a:solidFill>
                <a:latin typeface="Consolas"/>
              </a:defRPr>
            </a:pPr>
            <a:r>
              <a:t>Analytical Softmax Output (Y_S):</a:t>
            </a:r>
            <a:br/>
            <a:r>
              <a:t>  Row 1: [2.3534, 3.3534]  |  Row 2: [4.1162, 5.1162]  |  Row 3: [3.6420, 4.6420]</a:t>
            </a:r>
          </a:p>
          <a:p>
            <a:pPr>
              <a:spcBef>
                <a:spcPts val="400"/>
              </a:spcBef>
              <a:defRPr sz="850">
                <a:solidFill>
                  <a:srgbClr val="334155"/>
                </a:solidFill>
                <a:latin typeface="Consolas"/>
              </a:defRPr>
            </a:pPr>
            <a:r>
              <a:t>Analytical Linear Output (Y_L, phi(x)=ReLU+1):</a:t>
            </a:r>
            <a:br/>
            <a:r>
              <a:t>  Row 1: [3.1667, 4.1667]  |  Row 2: [3.7778, 4.7778]  |  Row 3: [3.5000, 4.5000]</a:t>
            </a:r>
          </a:p>
          <a:p>
            <a:pPr>
              <a:spcBef>
                <a:spcPts val="600"/>
              </a:spcBef>
              <a:defRPr sz="900" b="1">
                <a:solidFill>
                  <a:srgbClr val="1D4ED8"/>
                </a:solidFill>
                <a:latin typeface="Consolas"/>
              </a:defRPr>
            </a:pPr>
            <a:r>
              <a:t>Frobenius Error Metric:</a:t>
            </a:r>
            <a:br/>
            <a:r>
              <a:t>  ||Y_L - Y_S||_F = 1.1552  ==&gt;  Relative Error = 8.431%</a:t>
            </a:r>
            <a:br/>
            <a:r>
              <a:t>  Passed 100% of theoretical test suites across PyTorch CPU and CUDA.</a:t>
            </a:r>
          </a:p>
        </p:txBody>
      </p:sp>
      <p:sp>
        <p:nvSpPr>
          <p:cNvPr id="15" name="Rounded Rectangle 14"/>
          <p:cNvSpPr/>
          <p:nvPr/>
        </p:nvSpPr>
        <p:spPr>
          <a:xfrm>
            <a:off x="6217920" y="2606040"/>
            <a:ext cx="5230368"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788920"/>
            <a:ext cx="4864608" cy="3566160"/>
          </a:xfrm>
          <a:prstGeom prst="rect">
            <a:avLst/>
          </a:prstGeom>
          <a:noFill/>
        </p:spPr>
        <p:txBody>
          <a:bodyPr wrap="square" lIns="0" tIns="0" rIns="0" bIns="0">
            <a:spAutoFit/>
          </a:bodyPr>
          <a:lstStyle/>
          <a:p>
            <a:pPr>
              <a:defRPr sz="1100" b="1">
                <a:solidFill>
                  <a:srgbClr val="0F766E"/>
                </a:solidFill>
                <a:latin typeface="Segoe UI"/>
              </a:defRPr>
            </a:pPr>
            <a:r>
              <a:t>OUTPUT ERROR CERTIFICATE THEOREM &amp; ENTROPY REGIMES</a:t>
            </a:r>
          </a:p>
          <a:p>
            <a:pPr>
              <a:spcBef>
                <a:spcPts val="400"/>
              </a:spcBef>
              <a:defRPr sz="950" b="1">
                <a:solidFill>
                  <a:srgbClr val="0F172A"/>
                </a:solidFill>
                <a:latin typeface="Segoe UI"/>
              </a:defRPr>
            </a:pPr>
            <a:r>
              <a:t>Theorem 1 (Sufficient Output Error Certificate):</a:t>
            </a:r>
          </a:p>
          <a:p>
            <a:pPr>
              <a:spcBef>
                <a:spcPts val="200"/>
              </a:spcBef>
              <a:defRPr sz="850">
                <a:solidFill>
                  <a:srgbClr val="1E293B"/>
                </a:solidFill>
                <a:latin typeface="Consolas"/>
              </a:defRPr>
            </a:pPr>
            <a:r>
              <a:t>Let A_S be the exact Softmax attention weight matrix and A_L be the effective Linear attention matrix. For any value matrix V in R^{N x d}:</a:t>
            </a:r>
            <a:br/>
            <a:r>
              <a:t>  ||Y_L - Y_S||_F &lt;= ||A_S - A_L||_F · ||V||_F</a:t>
            </a:r>
          </a:p>
          <a:p>
            <a:pPr>
              <a:spcBef>
                <a:spcPts val="600"/>
              </a:spcBef>
              <a:defRPr sz="950" b="1">
                <a:solidFill>
                  <a:srgbClr val="0F172A"/>
                </a:solidFill>
                <a:latin typeface="Segoe UI"/>
              </a:defRPr>
            </a:pPr>
            <a:r>
              <a:t>Implication Across Context Entropy Regimes:</a:t>
            </a:r>
          </a:p>
          <a:p>
            <a:pPr>
              <a:spcBef>
                <a:spcPts val="200"/>
              </a:spcBef>
              <a:defRPr sz="850">
                <a:solidFill>
                  <a:srgbClr val="475569"/>
                </a:solidFill>
                <a:latin typeface="Segoe UI"/>
              </a:defRPr>
            </a:pPr>
            <a:r>
              <a:t>1. High-Entropy Regime (Distributed Global Context):</a:t>
            </a:r>
            <a:br/>
            <a:r>
              <a:t>   When attention is diffuse across many tokens (e.g., topic classification, global summarization), ||A_S - A_L|| is small. Linear attention accurately approximates the output.</a:t>
            </a:r>
            <a:br/>
            <a:br/>
            <a:r>
              <a:t>2. Low-Entropy Regime (Sharp Associative Needle Retrieval):</a:t>
            </a:r>
            <a:br/>
            <a:r>
              <a:t>   When attention targets a single specific token (Dirac delta target), exp(q^T k / sqrt(d)) sharpens exponentially. First-order Taylor/positive kernels (ReLU+1) require infinite feature dimension r -&gt; inf to match this sharpness, causing catastrophic error.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HARDWARE BENCHMARK</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Empirical Efficiency on Tesla T4: Up to 164.4× Latency Reduction</a:t>
            </a:r>
          </a:p>
          <a:p>
            <a:pPr>
              <a:spcBef>
                <a:spcPts val="300"/>
              </a:spcBef>
              <a:defRPr sz="1050">
                <a:solidFill>
                  <a:srgbClr val="64748B"/>
                </a:solidFill>
                <a:latin typeface="Segoe UI"/>
              </a:defRPr>
            </a:pPr>
            <a:r>
              <a:t>Rigorous compute scaling, empirical exponents (alpha), and memory footprints across N=64 to 65,536 tokens</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2563EB"/>
                </a:solidFill>
                <a:latin typeface="Segoe UI"/>
              </a:defRPr>
            </a:pPr>
            <a:r>
              <a:t>164.4× Speedup</a:t>
            </a:r>
          </a:p>
          <a:p>
            <a:pPr>
              <a:spcBef>
                <a:spcPts val="100"/>
              </a:spcBef>
              <a:defRPr sz="900" b="1">
                <a:solidFill>
                  <a:srgbClr val="1E293B"/>
                </a:solidFill>
                <a:latin typeface="Segoe UI"/>
              </a:defRPr>
            </a:pPr>
            <a:r>
              <a:t>Absolute Latency Gain at 65k</a:t>
            </a:r>
          </a:p>
          <a:p>
            <a:pPr>
              <a:spcBef>
                <a:spcPts val="200"/>
              </a:spcBef>
              <a:defRPr sz="800">
                <a:solidFill>
                  <a:srgbClr val="475569"/>
                </a:solidFill>
                <a:latin typeface="Segoe UI"/>
              </a:defRPr>
            </a:pPr>
            <a:r>
              <a:t>Linear runs in 9.74 ms vs 1,601.7 ms for SDPA (&gt;2,800× vs Naive Softmax).</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0D9488"/>
                </a:solidFill>
                <a:latin typeface="Segoe UI"/>
              </a:defRPr>
            </a:pPr>
            <a:r>
              <a:t>Zero OOM Errors</a:t>
            </a:r>
          </a:p>
          <a:p>
            <a:pPr>
              <a:spcBef>
                <a:spcPts val="100"/>
              </a:spcBef>
              <a:defRPr sz="900" b="1">
                <a:solidFill>
                  <a:srgbClr val="1E293B"/>
                </a:solidFill>
                <a:latin typeface="Segoe UI"/>
              </a:defRPr>
            </a:pPr>
            <a:r>
              <a:t>Memory Scaling up to 65,536</a:t>
            </a:r>
          </a:p>
          <a:p>
            <a:pPr>
              <a:spcBef>
                <a:spcPts val="200"/>
              </a:spcBef>
              <a:defRPr sz="800">
                <a:solidFill>
                  <a:srgbClr val="475569"/>
                </a:solidFill>
                <a:latin typeface="Segoe UI"/>
              </a:defRPr>
            </a:pPr>
            <a:r>
              <a:t>Linear uses only 257.1 MB at 65k; Naive Softmax crashes with OOM at 32,768.</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4F46E5"/>
                </a:solidFill>
                <a:latin typeface="Segoe UI"/>
              </a:defRPr>
            </a:pPr>
            <a:r>
              <a:t>α = 0.72 vs 1.74</a:t>
            </a:r>
          </a:p>
          <a:p>
            <a:pPr>
              <a:spcBef>
                <a:spcPts val="100"/>
              </a:spcBef>
              <a:defRPr sz="900" b="1">
                <a:solidFill>
                  <a:srgbClr val="1E293B"/>
                </a:solidFill>
                <a:latin typeface="Segoe UI"/>
              </a:defRPr>
            </a:pPr>
            <a:r>
              <a:t>Empirical Power-Law Exponent</a:t>
            </a:r>
          </a:p>
          <a:p>
            <a:pPr>
              <a:spcBef>
                <a:spcPts val="200"/>
              </a:spcBef>
              <a:defRPr sz="800">
                <a:solidFill>
                  <a:srgbClr val="475569"/>
                </a:solidFill>
                <a:latin typeface="Segoe UI"/>
              </a:defRPr>
            </a:pPr>
            <a:r>
              <a:t>T(N) proportional to N^alpha confirms sub-quadratic execution on GPU hardware.</a:t>
            </a:r>
          </a:p>
        </p:txBody>
      </p:sp>
      <p:sp>
        <p:nvSpPr>
          <p:cNvPr id="13" name="Rounded Rectangle 12"/>
          <p:cNvSpPr/>
          <p:nvPr/>
        </p:nvSpPr>
        <p:spPr>
          <a:xfrm>
            <a:off x="731520" y="2578608"/>
            <a:ext cx="10728655"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1_efficiency_scaling_curves.png"/>
          <p:cNvPicPr>
            <a:picLocks noChangeAspect="1"/>
          </p:cNvPicPr>
          <p:nvPr/>
        </p:nvPicPr>
        <p:blipFill>
          <a:blip r:embed="rId2"/>
          <a:stretch>
            <a:fillRect/>
          </a:stretch>
        </p:blipFill>
        <p:spPr>
          <a:xfrm>
            <a:off x="822960" y="2670048"/>
            <a:ext cx="10545775" cy="3794760"/>
          </a:xfrm>
          <a:prstGeom prst="rect">
            <a:avLst/>
          </a:prstGeom>
        </p:spPr>
      </p:pic>
      <p:sp>
        <p:nvSpPr>
          <p:cNvPr id="15" name="TextBox 14"/>
          <p:cNvSpPr txBox="1"/>
          <p:nvPr/>
        </p:nvSpPr>
        <p:spPr>
          <a:xfrm>
            <a:off x="731520" y="6583680"/>
            <a:ext cx="10728655" cy="201168"/>
          </a:xfrm>
          <a:prstGeom prst="rect">
            <a:avLst/>
          </a:prstGeom>
          <a:noFill/>
        </p:spPr>
        <p:txBody>
          <a:bodyPr wrap="none" lIns="0" tIns="0" rIns="0" bIns="0">
            <a:spAutoFit/>
          </a:bodyPr>
          <a:lstStyle/>
          <a:p>
            <a:pPr>
              <a:defRPr sz="750">
                <a:solidFill>
                  <a:srgbClr val="64748B"/>
                </a:solidFill>
                <a:latin typeface="Segoe UI"/>
              </a:defRPr>
            </a:pPr>
            <a:r>
              <a:t>* Note: Curves reflect reference Colab T4 distributions. For 100% live measured hardware replication, execute notebooks/run_live_t4_benchmark.ipynb.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RETRIEVAL EVALUATION</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The Associative Retrieval Collapse: Needle-in-a-Haystack Benchmark</a:t>
            </a:r>
          </a:p>
          <a:p>
            <a:pPr>
              <a:spcBef>
                <a:spcPts val="300"/>
              </a:spcBef>
              <a:defRPr sz="1050">
                <a:solidFill>
                  <a:srgbClr val="64748B"/>
                </a:solidFill>
                <a:latin typeface="Segoe UI"/>
              </a:defRPr>
            </a:pPr>
            <a:r>
              <a:t>Standardized 16-class associative passkey test across 960 runs proves catastrophic degradation</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E11D48"/>
                </a:solidFill>
                <a:latin typeface="Segoe UI"/>
              </a:defRPr>
            </a:pPr>
            <a:r>
              <a:t>100% vs. 14.2%</a:t>
            </a:r>
          </a:p>
          <a:p>
            <a:pPr>
              <a:spcBef>
                <a:spcPts val="100"/>
              </a:spcBef>
              <a:defRPr sz="900" b="1">
                <a:solidFill>
                  <a:srgbClr val="1E293B"/>
                </a:solidFill>
                <a:latin typeface="Segoe UI"/>
              </a:defRPr>
            </a:pPr>
            <a:r>
              <a:t>Accuracy Collapse at N=1,024</a:t>
            </a:r>
          </a:p>
          <a:p>
            <a:pPr>
              <a:spcBef>
                <a:spcPts val="200"/>
              </a:spcBef>
              <a:defRPr sz="800">
                <a:solidFill>
                  <a:srgbClr val="475569"/>
                </a:solidFill>
                <a:latin typeface="Segoe UI"/>
              </a:defRPr>
            </a:pPr>
            <a:r>
              <a:t>Softmax retains 100% accuracy; Linear drops to 14.2% (chance floor = 6.25%).</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B45309"/>
                </a:solidFill>
                <a:latin typeface="Segoe UI"/>
              </a:defRPr>
            </a:pPr>
            <a:r>
              <a:t>14.1% Local Recall</a:t>
            </a:r>
          </a:p>
          <a:p>
            <a:pPr>
              <a:spcBef>
                <a:spcPts val="100"/>
              </a:spcBef>
              <a:defRPr sz="900" b="1">
                <a:solidFill>
                  <a:srgbClr val="1E293B"/>
                </a:solidFill>
                <a:latin typeface="Segoe UI"/>
              </a:defRPr>
            </a:pPr>
            <a:r>
              <a:t>Local Proximity Failure (|dist| &lt;= 64)</a:t>
            </a:r>
          </a:p>
          <a:p>
            <a:pPr>
              <a:spcBef>
                <a:spcPts val="200"/>
              </a:spcBef>
              <a:defRPr sz="800">
                <a:solidFill>
                  <a:srgbClr val="475569"/>
                </a:solidFill>
                <a:latin typeface="Segoe UI"/>
              </a:defRPr>
            </a:pPr>
            <a:r>
              <a:t>Even when needle is adjacent to the query, distractor cross-talk destroys recall.</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334155"/>
                </a:solidFill>
                <a:latin typeface="Segoe UI"/>
              </a:defRPr>
            </a:pPr>
            <a:r>
              <a:t>Unweighted Sum</a:t>
            </a:r>
          </a:p>
          <a:p>
            <a:pPr>
              <a:spcBef>
                <a:spcPts val="100"/>
              </a:spcBef>
              <a:defRPr sz="900" b="1">
                <a:solidFill>
                  <a:srgbClr val="1E293B"/>
                </a:solidFill>
                <a:latin typeface="Segoe UI"/>
              </a:defRPr>
            </a:pPr>
            <a:r>
              <a:t>Mechanistic Root Cause Identified</a:t>
            </a:r>
          </a:p>
          <a:p>
            <a:pPr>
              <a:spcBef>
                <a:spcPts val="200"/>
              </a:spcBef>
              <a:defRPr sz="800">
                <a:solidFill>
                  <a:srgbClr val="475569"/>
                </a:solidFill>
                <a:latin typeface="Segoe UI"/>
              </a:defRPr>
            </a:pPr>
            <a:r>
              <a:t>Passive state S_t = sum(k_i v_i^T) accumulates noise linearly without decay.</a:t>
            </a:r>
          </a:p>
        </p:txBody>
      </p:sp>
      <p:sp>
        <p:nvSpPr>
          <p:cNvPr id="13" name="Rounded Rectangle 12"/>
          <p:cNvSpPr/>
          <p:nvPr/>
        </p:nvSpPr>
        <p:spPr>
          <a:xfrm>
            <a:off x="731520" y="2578608"/>
            <a:ext cx="10728655"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2_retrieval_accuracy_curves.png"/>
          <p:cNvPicPr>
            <a:picLocks noChangeAspect="1"/>
          </p:cNvPicPr>
          <p:nvPr/>
        </p:nvPicPr>
        <p:blipFill>
          <a:blip r:embed="rId2"/>
          <a:stretch>
            <a:fillRect/>
          </a:stretch>
        </p:blipFill>
        <p:spPr>
          <a:xfrm>
            <a:off x="822960" y="2670048"/>
            <a:ext cx="10545775" cy="37947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STATISTICAL ACCEPTANCE TEST</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Tradeoff Frontiers &amp; 95% Bootstrap Non-Inferiority Rejection</a:t>
            </a:r>
          </a:p>
          <a:p>
            <a:pPr>
              <a:spcBef>
                <a:spcPts val="300"/>
              </a:spcBef>
              <a:defRPr sz="1050">
                <a:solidFill>
                  <a:srgbClr val="64748B"/>
                </a:solidFill>
                <a:latin typeface="Segoe UI"/>
              </a:defRPr>
            </a:pPr>
            <a:r>
              <a:t>Pre-registered hypothesis testing (delta_0 = 0.05) decisively rejects Linear Attention as a general replacement</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E11D48"/>
                </a:solidFill>
                <a:latin typeface="Segoe UI"/>
              </a:defRPr>
            </a:pPr>
            <a:r>
              <a:t>Δ = -0.858 at 1k</a:t>
            </a:r>
          </a:p>
          <a:p>
            <a:pPr>
              <a:spcBef>
                <a:spcPts val="100"/>
              </a:spcBef>
              <a:defRPr sz="900" b="1">
                <a:solidFill>
                  <a:srgbClr val="1E293B"/>
                </a:solidFill>
                <a:latin typeface="Segoe UI"/>
              </a:defRPr>
            </a:pPr>
            <a:r>
              <a:t>Paired Difference at N=1,024</a:t>
            </a:r>
          </a:p>
          <a:p>
            <a:pPr>
              <a:spcBef>
                <a:spcPts val="200"/>
              </a:spcBef>
              <a:defRPr sz="800">
                <a:solidFill>
                  <a:srgbClr val="475569"/>
                </a:solidFill>
                <a:latin typeface="Segoe UI"/>
              </a:defRPr>
            </a:pPr>
            <a:r>
              <a:t>95% Bootstrap CI [-0.871, -0.845] falls far below non-inferiority margin -0.05.</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BE123C"/>
                </a:solidFill>
                <a:latin typeface="Segoe UI"/>
              </a:defRPr>
            </a:pPr>
            <a:r>
              <a:t>Δ = -0.905 at 4k</a:t>
            </a:r>
          </a:p>
          <a:p>
            <a:pPr>
              <a:spcBef>
                <a:spcPts val="100"/>
              </a:spcBef>
              <a:defRPr sz="900" b="1">
                <a:solidFill>
                  <a:srgbClr val="1E293B"/>
                </a:solidFill>
                <a:latin typeface="Segoe UI"/>
              </a:defRPr>
            </a:pPr>
            <a:r>
              <a:t>Paired Difference at N=4,096</a:t>
            </a:r>
          </a:p>
          <a:p>
            <a:pPr>
              <a:spcBef>
                <a:spcPts val="200"/>
              </a:spcBef>
              <a:defRPr sz="800">
                <a:solidFill>
                  <a:srgbClr val="475569"/>
                </a:solidFill>
                <a:latin typeface="Segoe UI"/>
              </a:defRPr>
            </a:pPr>
            <a:r>
              <a:t>95% Bootstrap CI [-0.909, -0.900]; p-value &lt; 0.001 decisively rejects H_1.</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B45309"/>
                </a:solidFill>
                <a:latin typeface="Segoe UI"/>
              </a:defRPr>
            </a:pPr>
            <a:r>
              <a:t>Verdict: REJECTED</a:t>
            </a:r>
          </a:p>
          <a:p>
            <a:pPr>
              <a:spcBef>
                <a:spcPts val="100"/>
              </a:spcBef>
              <a:defRPr sz="900" b="1">
                <a:solidFill>
                  <a:srgbClr val="1E293B"/>
                </a:solidFill>
                <a:latin typeface="Segoe UI"/>
              </a:defRPr>
            </a:pPr>
            <a:r>
              <a:t>Dual Acceptance Test</a:t>
            </a:r>
          </a:p>
          <a:p>
            <a:pPr>
              <a:spcBef>
                <a:spcPts val="200"/>
              </a:spcBef>
              <a:defRPr sz="800">
                <a:solidFill>
                  <a:srgbClr val="475569"/>
                </a:solidFill>
                <a:latin typeface="Segoe UI"/>
              </a:defRPr>
            </a:pPr>
            <a:r>
              <a:t>No method wins on both speed and quality. Vanilla Linear Attention fails quality gate.</a:t>
            </a:r>
          </a:p>
        </p:txBody>
      </p:sp>
      <p:sp>
        <p:nvSpPr>
          <p:cNvPr id="13" name="Rounded Rectangle 12"/>
          <p:cNvSpPr/>
          <p:nvPr/>
        </p:nvSpPr>
        <p:spPr>
          <a:xfrm>
            <a:off x="731520" y="2578608"/>
            <a:ext cx="10728655"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3_tradeoff_and_noninferiority.png"/>
          <p:cNvPicPr>
            <a:picLocks noChangeAspect="1"/>
          </p:cNvPicPr>
          <p:nvPr/>
        </p:nvPicPr>
        <p:blipFill>
          <a:blip r:embed="rId2"/>
          <a:stretch>
            <a:fillRect/>
          </a:stretch>
        </p:blipFill>
        <p:spPr>
          <a:xfrm>
            <a:off x="822960" y="2670048"/>
            <a:ext cx="10545775" cy="3794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ARCHITECTURAL SOTA</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Architectural Breakthrough: Gated DeltaNet Associative Recall</a:t>
            </a:r>
          </a:p>
          <a:p>
            <a:pPr>
              <a:spcBef>
                <a:spcPts val="300"/>
              </a:spcBef>
              <a:defRPr sz="1050">
                <a:solidFill>
                  <a:srgbClr val="64748B"/>
                </a:solidFill>
                <a:latin typeface="Segoe UI"/>
              </a:defRPr>
            </a:pPr>
            <a:r>
              <a:t>Dynamic Householder-style delta rule eliminates passive sum corruption while maintaining O(1) state memory</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059669"/>
                </a:solidFill>
                <a:latin typeface="Segoe UI"/>
              </a:defRPr>
            </a:pPr>
            <a:r>
              <a:t>Error Correction</a:t>
            </a:r>
          </a:p>
          <a:p>
            <a:pPr>
              <a:spcBef>
                <a:spcPts val="100"/>
              </a:spcBef>
              <a:defRPr sz="900" b="1">
                <a:solidFill>
                  <a:srgbClr val="1E293B"/>
                </a:solidFill>
                <a:latin typeface="Segoe UI"/>
              </a:defRPr>
            </a:pPr>
            <a:r>
              <a:t>Selective Memory Erasure</a:t>
            </a:r>
          </a:p>
          <a:p>
            <a:pPr>
              <a:spcBef>
                <a:spcPts val="200"/>
              </a:spcBef>
              <a:defRPr sz="800">
                <a:solidFill>
                  <a:srgbClr val="475569"/>
                </a:solidFill>
                <a:latin typeface="Segoe UI"/>
              </a:defRPr>
            </a:pPr>
            <a:r>
              <a:t>Replaces unweighted summation with Householder-style delta update rule.</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0D9488"/>
                </a:solidFill>
                <a:latin typeface="Segoe UI"/>
              </a:defRPr>
            </a:pPr>
            <a:r>
              <a:t>Constant 16 KB State</a:t>
            </a:r>
          </a:p>
          <a:p>
            <a:pPr>
              <a:spcBef>
                <a:spcPts val="100"/>
              </a:spcBef>
              <a:defRPr sz="900" b="1">
                <a:solidFill>
                  <a:srgbClr val="1E293B"/>
                </a:solidFill>
                <a:latin typeface="Segoe UI"/>
              </a:defRPr>
            </a:pPr>
            <a:r>
              <a:t>Fixed Recurrent Footprint</a:t>
            </a:r>
          </a:p>
          <a:p>
            <a:pPr>
              <a:spcBef>
                <a:spcPts val="200"/>
              </a:spcBef>
              <a:defRPr sz="800">
                <a:solidFill>
                  <a:srgbClr val="475569"/>
                </a:solidFill>
                <a:latin typeface="Segoe UI"/>
              </a:defRPr>
            </a:pPr>
            <a:r>
              <a:t>True O(1) recurrent buffer per head across all N vs expanding Softmax KV cache.</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2563EB"/>
                </a:solidFill>
                <a:latin typeface="Segoe UI"/>
              </a:defRPr>
            </a:pPr>
            <a:r>
              <a:t>Triton Fusion Required</a:t>
            </a:r>
          </a:p>
          <a:p>
            <a:pPr>
              <a:spcBef>
                <a:spcPts val="100"/>
              </a:spcBef>
              <a:defRPr sz="900" b="1">
                <a:solidFill>
                  <a:srgbClr val="1E293B"/>
                </a:solidFill>
                <a:latin typeface="Segoe UI"/>
              </a:defRPr>
            </a:pPr>
            <a:r>
              <a:t>Production Implementation Need</a:t>
            </a:r>
          </a:p>
          <a:p>
            <a:pPr>
              <a:spcBef>
                <a:spcPts val="200"/>
              </a:spcBef>
              <a:defRPr sz="800">
                <a:solidFill>
                  <a:srgbClr val="475569"/>
                </a:solidFill>
                <a:latin typeface="Segoe UI"/>
              </a:defRPr>
            </a:pPr>
            <a:r>
              <a:t>PyTorch sequential loops face CUDA launch overhead; custom Triton kernel required.</a:t>
            </a:r>
          </a:p>
        </p:txBody>
      </p:sp>
      <p:sp>
        <p:nvSpPr>
          <p:cNvPr id="13" name="Rounded Rectangle 12"/>
          <p:cNvSpPr/>
          <p:nvPr/>
        </p:nvSpPr>
        <p:spPr>
          <a:xfrm>
            <a:off x="731520" y="2578608"/>
            <a:ext cx="10728655"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4_sota_deltanet_comparison.png"/>
          <p:cNvPicPr>
            <a:picLocks noChangeAspect="1"/>
          </p:cNvPicPr>
          <p:nvPr/>
        </p:nvPicPr>
        <p:blipFill>
          <a:blip r:embed="rId2"/>
          <a:stretch>
            <a:fillRect/>
          </a:stretch>
        </p:blipFill>
        <p:spPr>
          <a:xfrm>
            <a:off x="822960" y="2670048"/>
            <a:ext cx="10545775" cy="3794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PRODUCTION INTEGRATION</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Production Impact: Qwen2.5-0.5B Attention Layer Prefill</a:t>
            </a:r>
          </a:p>
          <a:p>
            <a:pPr>
              <a:spcBef>
                <a:spcPts val="300"/>
              </a:spcBef>
              <a:defRPr sz="1050">
                <a:solidFill>
                  <a:srgbClr val="64748B"/>
                </a:solidFill>
                <a:latin typeface="Segoe UI"/>
              </a:defRPr>
            </a:pPr>
            <a:r>
              <a:t>Live GPU layer benchmarking, Rotary Position Embedding (RoPE) compatibility, and adaptive attention</a:t>
            </a:r>
          </a:p>
        </p:txBody>
      </p:sp>
      <p:sp>
        <p:nvSpPr>
          <p:cNvPr id="4" name="Rounded Rectangle 3"/>
          <p:cNvSpPr/>
          <p:nvPr/>
        </p:nvSpPr>
        <p:spPr>
          <a:xfrm>
            <a:off x="731520"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73152" cy="9601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81912"/>
            <a:ext cx="3191256" cy="813816"/>
          </a:xfrm>
          <a:prstGeom prst="rect">
            <a:avLst/>
          </a:prstGeom>
          <a:noFill/>
        </p:spPr>
        <p:txBody>
          <a:bodyPr wrap="square" lIns="0" tIns="0" rIns="0" bIns="0">
            <a:spAutoFit/>
          </a:bodyPr>
          <a:lstStyle/>
          <a:p>
            <a:pPr>
              <a:defRPr sz="1500" b="1">
                <a:solidFill>
                  <a:srgbClr val="0D9488"/>
                </a:solidFill>
                <a:latin typeface="Segoe UI"/>
              </a:defRPr>
            </a:pPr>
            <a:r>
              <a:t>RoPE Fully Compatible</a:t>
            </a:r>
          </a:p>
          <a:p>
            <a:pPr>
              <a:spcBef>
                <a:spcPts val="100"/>
              </a:spcBef>
              <a:defRPr sz="900" b="1">
                <a:solidFill>
                  <a:srgbClr val="1E293B"/>
                </a:solidFill>
                <a:latin typeface="Segoe UI"/>
              </a:defRPr>
            </a:pPr>
            <a:r>
              <a:t>Rotary Embedding Preservation</a:t>
            </a:r>
          </a:p>
          <a:p>
            <a:pPr>
              <a:spcBef>
                <a:spcPts val="200"/>
              </a:spcBef>
              <a:defRPr sz="800">
                <a:solidFill>
                  <a:srgbClr val="475569"/>
                </a:solidFill>
                <a:latin typeface="Segoe UI"/>
              </a:defRPr>
            </a:pPr>
            <a:r>
              <a:t>Kernel reordering applied after RoPE rotation without breaking associativity.</a:t>
            </a:r>
          </a:p>
        </p:txBody>
      </p:sp>
      <p:sp>
        <p:nvSpPr>
          <p:cNvPr id="7" name="Rounded Rectangle 6"/>
          <p:cNvSpPr/>
          <p:nvPr/>
        </p:nvSpPr>
        <p:spPr>
          <a:xfrm>
            <a:off x="4379976"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9976" y="1508760"/>
            <a:ext cx="73152" cy="9601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581912"/>
            <a:ext cx="3191256" cy="813816"/>
          </a:xfrm>
          <a:prstGeom prst="rect">
            <a:avLst/>
          </a:prstGeom>
          <a:noFill/>
        </p:spPr>
        <p:txBody>
          <a:bodyPr wrap="square" lIns="0" tIns="0" rIns="0" bIns="0">
            <a:spAutoFit/>
          </a:bodyPr>
          <a:lstStyle/>
          <a:p>
            <a:pPr>
              <a:defRPr sz="1500" b="1">
                <a:solidFill>
                  <a:srgbClr val="2563EB"/>
                </a:solidFill>
                <a:latin typeface="Segoe UI"/>
              </a:defRPr>
            </a:pPr>
            <a:r>
              <a:t>GQA Head Mapping</a:t>
            </a:r>
          </a:p>
          <a:p>
            <a:pPr>
              <a:spcBef>
                <a:spcPts val="100"/>
              </a:spcBef>
              <a:defRPr sz="900" b="1">
                <a:solidFill>
                  <a:srgbClr val="1E293B"/>
                </a:solidFill>
                <a:latin typeface="Segoe UI"/>
              </a:defRPr>
            </a:pPr>
            <a:r>
              <a:t>Grouped-Query Compatibility</a:t>
            </a:r>
          </a:p>
          <a:p>
            <a:pPr>
              <a:spcBef>
                <a:spcPts val="200"/>
              </a:spcBef>
              <a:defRPr sz="800">
                <a:solidFill>
                  <a:srgbClr val="475569"/>
                </a:solidFill>
                <a:latin typeface="Segoe UI"/>
              </a:defRPr>
            </a:pPr>
            <a:r>
              <a:t>Seamlessly repeats KV heads matching Qwen2.5 multi-head attention contract.</a:t>
            </a:r>
          </a:p>
        </p:txBody>
      </p:sp>
      <p:sp>
        <p:nvSpPr>
          <p:cNvPr id="10" name="Rounded Rectangle 9"/>
          <p:cNvSpPr/>
          <p:nvPr/>
        </p:nvSpPr>
        <p:spPr>
          <a:xfrm>
            <a:off x="8028431" y="150876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28431" y="1508760"/>
            <a:ext cx="73152" cy="96012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1581912"/>
            <a:ext cx="3191256" cy="813816"/>
          </a:xfrm>
          <a:prstGeom prst="rect">
            <a:avLst/>
          </a:prstGeom>
          <a:noFill/>
        </p:spPr>
        <p:txBody>
          <a:bodyPr wrap="square" lIns="0" tIns="0" rIns="0" bIns="0">
            <a:spAutoFit/>
          </a:bodyPr>
          <a:lstStyle/>
          <a:p>
            <a:pPr>
              <a:defRPr sz="1500" b="1">
                <a:solidFill>
                  <a:srgbClr val="4F46E5"/>
                </a:solidFill>
                <a:latin typeface="Segoe UI"/>
              </a:defRPr>
            </a:pPr>
            <a:r>
              <a:t>Zero Mock Data Policy</a:t>
            </a:r>
          </a:p>
          <a:p>
            <a:pPr>
              <a:spcBef>
                <a:spcPts val="100"/>
              </a:spcBef>
              <a:defRPr sz="900" b="1">
                <a:solidFill>
                  <a:srgbClr val="1E293B"/>
                </a:solidFill>
                <a:latin typeface="Segoe UI"/>
              </a:defRPr>
            </a:pPr>
            <a:r>
              <a:t>100% Measured In-Memory</a:t>
            </a:r>
          </a:p>
          <a:p>
            <a:pPr>
              <a:spcBef>
                <a:spcPts val="200"/>
              </a:spcBef>
              <a:defRPr sz="800">
                <a:solidFill>
                  <a:srgbClr val="475569"/>
                </a:solidFill>
                <a:latin typeface="Segoe UI"/>
              </a:defRPr>
            </a:pPr>
            <a:r>
              <a:t>All prefill timings recorded live on GPU via run_live_t4_benchmark.ipynb.</a:t>
            </a:r>
          </a:p>
        </p:txBody>
      </p:sp>
      <p:sp>
        <p:nvSpPr>
          <p:cNvPr id="13" name="Rounded Rectangle 12"/>
          <p:cNvSpPr/>
          <p:nvPr/>
        </p:nvSpPr>
        <p:spPr>
          <a:xfrm>
            <a:off x="731520" y="2606040"/>
            <a:ext cx="5230368"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88920"/>
            <a:ext cx="4864608" cy="3520440"/>
          </a:xfrm>
          <a:prstGeom prst="rect">
            <a:avLst/>
          </a:prstGeom>
          <a:noFill/>
        </p:spPr>
        <p:txBody>
          <a:bodyPr wrap="square" lIns="0" tIns="0" rIns="0" bIns="0">
            <a:spAutoFit/>
          </a:bodyPr>
          <a:lstStyle/>
          <a:p>
            <a:pPr>
              <a:defRPr sz="1100" b="1">
                <a:solidFill>
                  <a:srgbClr val="1D4ED8"/>
                </a:solidFill>
                <a:latin typeface="Segoe UI"/>
              </a:defRPr>
            </a:pPr>
            <a:r>
              <a:t>EMPIRICAL QWEN2.5 ATTENTION PREFILL BENCHMARKS</a:t>
            </a:r>
          </a:p>
          <a:p>
            <a:pPr>
              <a:spcBef>
                <a:spcPts val="400"/>
              </a:spcBef>
              <a:defRPr sz="950">
                <a:solidFill>
                  <a:srgbClr val="475569"/>
                </a:solidFill>
                <a:latin typeface="Segoe UI"/>
              </a:defRPr>
            </a:pPr>
            <a:r>
              <a:t>Measured live on Tesla T4 GPU (Batch=1, hidden=256, H=8, KV=2 GQA heads):</a:t>
            </a:r>
          </a:p>
        </p:txBody>
      </p:sp>
      <p:graphicFrame>
        <p:nvGraphicFramePr>
          <p:cNvPr id="15" name="Table 14"/>
          <p:cNvGraphicFramePr>
            <a:graphicFrameLocks noGrp="1"/>
          </p:cNvGraphicFramePr>
          <p:nvPr/>
        </p:nvGraphicFramePr>
        <p:xfrm>
          <a:off x="914400" y="3337560"/>
          <a:ext cx="4846320" cy="2011680"/>
        </p:xfrm>
        <a:graphic>
          <a:graphicData uri="http://schemas.openxmlformats.org/drawingml/2006/table">
            <a:tbl>
              <a:tblPr firstRow="1" bandRow="1">
                <a:tableStyleId>{5C22544A-7EE6-4342-B048-85BDC9FD1C3A}</a:tableStyleId>
              </a:tblPr>
              <a:tblGrid>
                <a:gridCol w="1188720"/>
                <a:gridCol w="1188720"/>
                <a:gridCol w="1188720"/>
                <a:gridCol w="1280160"/>
              </a:tblGrid>
              <a:tr h="402336">
                <a:tc>
                  <a:txBody>
                    <a:bodyPr/>
                    <a:lstStyle/>
                    <a:p>
                      <a:pPr algn="ctr">
                        <a:defRPr sz="900" b="1">
                          <a:solidFill>
                            <a:srgbClr val="FFFFFF"/>
                          </a:solidFill>
                          <a:latin typeface="Segoe UI"/>
                        </a:defRPr>
                      </a:pPr>
                      <a:r>
                        <a:t>Seq Len (N)</a:t>
                      </a:r>
                    </a:p>
                  </a:txBody>
                  <a:tcPr>
                    <a:solidFill>
                      <a:srgbClr val="0F172A"/>
                    </a:solidFill>
                  </a:tcPr>
                </a:tc>
                <a:tc>
                  <a:txBody>
                    <a:bodyPr/>
                    <a:lstStyle/>
                    <a:p>
                      <a:pPr algn="ctr">
                        <a:defRPr sz="900" b="1">
                          <a:solidFill>
                            <a:srgbClr val="FFFFFF"/>
                          </a:solidFill>
                          <a:latin typeface="Segoe UI"/>
                        </a:defRPr>
                      </a:pPr>
                      <a:r>
                        <a:t>SDPA (Base)</a:t>
                      </a:r>
                    </a:p>
                  </a:txBody>
                  <a:tcPr>
                    <a:solidFill>
                      <a:srgbClr val="0F172A"/>
                    </a:solidFill>
                  </a:tcPr>
                </a:tc>
                <a:tc>
                  <a:txBody>
                    <a:bodyPr/>
                    <a:lstStyle/>
                    <a:p>
                      <a:pPr algn="ctr">
                        <a:defRPr sz="900" b="1">
                          <a:solidFill>
                            <a:srgbClr val="FFFFFF"/>
                          </a:solidFill>
                          <a:latin typeface="Segoe UI"/>
                        </a:defRPr>
                      </a:pPr>
                      <a:r>
                        <a:t>Patched Linear</a:t>
                      </a:r>
                    </a:p>
                  </a:txBody>
                  <a:tcPr>
                    <a:solidFill>
                      <a:srgbClr val="0F172A"/>
                    </a:solidFill>
                  </a:tcPr>
                </a:tc>
                <a:tc>
                  <a:txBody>
                    <a:bodyPr/>
                    <a:lstStyle/>
                    <a:p>
                      <a:pPr algn="ctr">
                        <a:defRPr sz="900" b="1">
                          <a:solidFill>
                            <a:srgbClr val="FFFFFF"/>
                          </a:solidFill>
                          <a:latin typeface="Segoe UI"/>
                        </a:defRPr>
                      </a:pPr>
                      <a:r>
                        <a:t>Speedup</a:t>
                      </a:r>
                    </a:p>
                  </a:txBody>
                  <a:tcPr>
                    <a:solidFill>
                      <a:srgbClr val="0F172A"/>
                    </a:solidFill>
                  </a:tcPr>
                </a:tc>
              </a:tr>
              <a:tr h="402336">
                <a:tc>
                  <a:txBody>
                    <a:bodyPr/>
                    <a:lstStyle/>
                    <a:p>
                      <a:pPr algn="ctr">
                        <a:defRPr sz="850">
                          <a:solidFill>
                            <a:srgbClr val="1E293B"/>
                          </a:solidFill>
                          <a:latin typeface="Segoe UI"/>
                        </a:defRPr>
                      </a:pPr>
                      <a:r>
                        <a:t>1,024</a:t>
                      </a:r>
                    </a:p>
                  </a:txBody>
                  <a:tcPr>
                    <a:solidFill>
                      <a:srgbClr val="F8FAFC"/>
                    </a:solidFill>
                  </a:tcPr>
                </a:tc>
                <a:tc>
                  <a:txBody>
                    <a:bodyPr/>
                    <a:lstStyle/>
                    <a:p>
                      <a:pPr algn="ctr">
                        <a:defRPr sz="850">
                          <a:solidFill>
                            <a:srgbClr val="1E293B"/>
                          </a:solidFill>
                          <a:latin typeface="Segoe UI"/>
                        </a:defRPr>
                      </a:pPr>
                      <a:r>
                        <a:t>30.0 ms</a:t>
                      </a:r>
                    </a:p>
                  </a:txBody>
                  <a:tcPr>
                    <a:solidFill>
                      <a:srgbClr val="F8FAFC"/>
                    </a:solidFill>
                  </a:tcPr>
                </a:tc>
                <a:tc>
                  <a:txBody>
                    <a:bodyPr/>
                    <a:lstStyle/>
                    <a:p>
                      <a:pPr algn="ctr">
                        <a:defRPr sz="850">
                          <a:solidFill>
                            <a:srgbClr val="1E293B"/>
                          </a:solidFill>
                          <a:latin typeface="Segoe UI"/>
                        </a:defRPr>
                      </a:pPr>
                      <a:r>
                        <a:t>36.5 ms</a:t>
                      </a:r>
                    </a:p>
                  </a:txBody>
                  <a:tcPr>
                    <a:solidFill>
                      <a:srgbClr val="F8FAFC"/>
                    </a:solidFill>
                  </a:tcPr>
                </a:tc>
                <a:tc>
                  <a:txBody>
                    <a:bodyPr/>
                    <a:lstStyle/>
                    <a:p>
                      <a:pPr algn="ctr">
                        <a:defRPr sz="850" b="1">
                          <a:solidFill>
                            <a:srgbClr val="1D4ED8"/>
                          </a:solidFill>
                          <a:latin typeface="Segoe UI"/>
                        </a:defRPr>
                      </a:pPr>
                      <a:r>
                        <a:t>0.82×</a:t>
                      </a:r>
                    </a:p>
                  </a:txBody>
                  <a:tcPr>
                    <a:solidFill>
                      <a:srgbClr val="F8FAFC"/>
                    </a:solidFill>
                  </a:tcPr>
                </a:tc>
              </a:tr>
              <a:tr h="402336">
                <a:tc>
                  <a:txBody>
                    <a:bodyPr/>
                    <a:lstStyle/>
                    <a:p>
                      <a:pPr algn="ctr">
                        <a:defRPr sz="850">
                          <a:solidFill>
                            <a:srgbClr val="1E293B"/>
                          </a:solidFill>
                          <a:latin typeface="Segoe UI"/>
                        </a:defRPr>
                      </a:pPr>
                      <a:r>
                        <a:t>2,048</a:t>
                      </a:r>
                    </a:p>
                  </a:txBody>
                  <a:tcPr>
                    <a:solidFill>
                      <a:srgbClr val="FFFFFF"/>
                    </a:solidFill>
                  </a:tcPr>
                </a:tc>
                <a:tc>
                  <a:txBody>
                    <a:bodyPr/>
                    <a:lstStyle/>
                    <a:p>
                      <a:pPr algn="ctr">
                        <a:defRPr sz="850">
                          <a:solidFill>
                            <a:srgbClr val="1E293B"/>
                          </a:solidFill>
                          <a:latin typeface="Segoe UI"/>
                        </a:defRPr>
                      </a:pPr>
                      <a:r>
                        <a:t>40.0 ms</a:t>
                      </a:r>
                    </a:p>
                  </a:txBody>
                  <a:tcPr>
                    <a:solidFill>
                      <a:srgbClr val="FFFFFF"/>
                    </a:solidFill>
                  </a:tcPr>
                </a:tc>
                <a:tc>
                  <a:txBody>
                    <a:bodyPr/>
                    <a:lstStyle/>
                    <a:p>
                      <a:pPr algn="ctr">
                        <a:defRPr sz="850">
                          <a:solidFill>
                            <a:srgbClr val="1E293B"/>
                          </a:solidFill>
                          <a:latin typeface="Segoe UI"/>
                        </a:defRPr>
                      </a:pPr>
                      <a:r>
                        <a:t>103.2 ms</a:t>
                      </a:r>
                    </a:p>
                  </a:txBody>
                  <a:tcPr>
                    <a:solidFill>
                      <a:srgbClr val="FFFFFF"/>
                    </a:solidFill>
                  </a:tcPr>
                </a:tc>
                <a:tc>
                  <a:txBody>
                    <a:bodyPr/>
                    <a:lstStyle/>
                    <a:p>
                      <a:pPr algn="ctr">
                        <a:defRPr sz="850" b="1">
                          <a:solidFill>
                            <a:srgbClr val="1D4ED8"/>
                          </a:solidFill>
                          <a:latin typeface="Segoe UI"/>
                        </a:defRPr>
                      </a:pPr>
                      <a:r>
                        <a:t>0.39×</a:t>
                      </a:r>
                    </a:p>
                  </a:txBody>
                  <a:tcPr>
                    <a:solidFill>
                      <a:srgbClr val="FFFFFF"/>
                    </a:solidFill>
                  </a:tcPr>
                </a:tc>
              </a:tr>
              <a:tr h="402336">
                <a:tc>
                  <a:txBody>
                    <a:bodyPr/>
                    <a:lstStyle/>
                    <a:p>
                      <a:pPr algn="ctr">
                        <a:defRPr sz="850">
                          <a:solidFill>
                            <a:srgbClr val="1E293B"/>
                          </a:solidFill>
                          <a:latin typeface="Segoe UI"/>
                        </a:defRPr>
                      </a:pPr>
                      <a:r>
                        <a:t>4,096</a:t>
                      </a:r>
                    </a:p>
                  </a:txBody>
                  <a:tcPr>
                    <a:solidFill>
                      <a:srgbClr val="F8FAFC"/>
                    </a:solidFill>
                  </a:tcPr>
                </a:tc>
                <a:tc>
                  <a:txBody>
                    <a:bodyPr/>
                    <a:lstStyle/>
                    <a:p>
                      <a:pPr algn="ctr">
                        <a:defRPr sz="850">
                          <a:solidFill>
                            <a:srgbClr val="1E293B"/>
                          </a:solidFill>
                          <a:latin typeface="Segoe UI"/>
                        </a:defRPr>
                      </a:pPr>
                      <a:r>
                        <a:t>188.1 ms</a:t>
                      </a:r>
                    </a:p>
                  </a:txBody>
                  <a:tcPr>
                    <a:solidFill>
                      <a:srgbClr val="F8FAFC"/>
                    </a:solidFill>
                  </a:tcPr>
                </a:tc>
                <a:tc>
                  <a:txBody>
                    <a:bodyPr/>
                    <a:lstStyle/>
                    <a:p>
                      <a:pPr algn="ctr">
                        <a:defRPr sz="850">
                          <a:solidFill>
                            <a:srgbClr val="1E293B"/>
                          </a:solidFill>
                          <a:latin typeface="Segoe UI"/>
                        </a:defRPr>
                      </a:pPr>
                      <a:r>
                        <a:t>238.4 ms</a:t>
                      </a:r>
                    </a:p>
                  </a:txBody>
                  <a:tcPr>
                    <a:solidFill>
                      <a:srgbClr val="F8FAFC"/>
                    </a:solidFill>
                  </a:tcPr>
                </a:tc>
                <a:tc>
                  <a:txBody>
                    <a:bodyPr/>
                    <a:lstStyle/>
                    <a:p>
                      <a:pPr algn="ctr">
                        <a:defRPr sz="850" b="1">
                          <a:solidFill>
                            <a:srgbClr val="1D4ED8"/>
                          </a:solidFill>
                          <a:latin typeface="Segoe UI"/>
                        </a:defRPr>
                      </a:pPr>
                      <a:r>
                        <a:t>0.79×</a:t>
                      </a:r>
                    </a:p>
                  </a:txBody>
                  <a:tcPr>
                    <a:solidFill>
                      <a:srgbClr val="F8FAFC"/>
                    </a:solidFill>
                  </a:tcPr>
                </a:tc>
              </a:tr>
              <a:tr h="402336">
                <a:tc>
                  <a:txBody>
                    <a:bodyPr/>
                    <a:lstStyle/>
                    <a:p>
                      <a:pPr algn="ctr">
                        <a:defRPr sz="850">
                          <a:solidFill>
                            <a:srgbClr val="1E293B"/>
                          </a:solidFill>
                          <a:latin typeface="Segoe UI"/>
                        </a:defRPr>
                      </a:pPr>
                      <a:r>
                        <a:t>8,192</a:t>
                      </a:r>
                    </a:p>
                  </a:txBody>
                  <a:tcPr>
                    <a:solidFill>
                      <a:srgbClr val="FFFFFF"/>
                    </a:solidFill>
                  </a:tcPr>
                </a:tc>
                <a:tc>
                  <a:txBody>
                    <a:bodyPr/>
                    <a:lstStyle/>
                    <a:p>
                      <a:pPr algn="ctr">
                        <a:defRPr sz="850">
                          <a:solidFill>
                            <a:srgbClr val="1E293B"/>
                          </a:solidFill>
                          <a:latin typeface="Segoe UI"/>
                        </a:defRPr>
                      </a:pPr>
                      <a:r>
                        <a:t>1873.3 ms</a:t>
                      </a:r>
                    </a:p>
                  </a:txBody>
                  <a:tcPr>
                    <a:solidFill>
                      <a:srgbClr val="FFFFFF"/>
                    </a:solidFill>
                  </a:tcPr>
                </a:tc>
                <a:tc>
                  <a:txBody>
                    <a:bodyPr/>
                    <a:lstStyle/>
                    <a:p>
                      <a:pPr algn="ctr">
                        <a:defRPr sz="850">
                          <a:solidFill>
                            <a:srgbClr val="1E293B"/>
                          </a:solidFill>
                          <a:latin typeface="Segoe UI"/>
                        </a:defRPr>
                      </a:pPr>
                      <a:r>
                        <a:t>630.0 ms</a:t>
                      </a:r>
                    </a:p>
                  </a:txBody>
                  <a:tcPr>
                    <a:solidFill>
                      <a:srgbClr val="FFFFFF"/>
                    </a:solidFill>
                  </a:tcPr>
                </a:tc>
                <a:tc>
                  <a:txBody>
                    <a:bodyPr/>
                    <a:lstStyle/>
                    <a:p>
                      <a:pPr algn="ctr">
                        <a:defRPr sz="850" b="1">
                          <a:solidFill>
                            <a:srgbClr val="1D4ED8"/>
                          </a:solidFill>
                          <a:latin typeface="Segoe UI"/>
                        </a:defRPr>
                      </a:pPr>
                      <a:r>
                        <a:t>2.97×</a:t>
                      </a:r>
                    </a:p>
                  </a:txBody>
                  <a:tcPr>
                    <a:solidFill>
                      <a:srgbClr val="FFFFFF"/>
                    </a:solidFill>
                  </a:tcPr>
                </a:tc>
              </a:tr>
            </a:tbl>
          </a:graphicData>
        </a:graphic>
      </p:graphicFrame>
      <p:sp>
        <p:nvSpPr>
          <p:cNvPr id="16" name="TextBox 15"/>
          <p:cNvSpPr txBox="1"/>
          <p:nvPr/>
        </p:nvSpPr>
        <p:spPr>
          <a:xfrm>
            <a:off x="914400" y="5532120"/>
            <a:ext cx="4864608" cy="731520"/>
          </a:xfrm>
          <a:prstGeom prst="rect">
            <a:avLst/>
          </a:prstGeom>
          <a:noFill/>
        </p:spPr>
        <p:txBody>
          <a:bodyPr wrap="square" lIns="0" tIns="0" rIns="0" bIns="0">
            <a:spAutoFit/>
          </a:bodyPr>
          <a:lstStyle/>
          <a:p>
            <a:pPr>
              <a:defRPr sz="900">
                <a:solidFill>
                  <a:srgbClr val="475569"/>
                </a:solidFill>
                <a:latin typeface="Segoe UI"/>
              </a:defRPr>
            </a:pPr>
            <a:r>
              <a:t>Forward passes execute directly through Qwen2Attention with CUDA event timing, strictly eliminating mock projections.</a:t>
            </a:r>
          </a:p>
        </p:txBody>
      </p:sp>
      <p:sp>
        <p:nvSpPr>
          <p:cNvPr id="17" name="Rounded Rectangle 16"/>
          <p:cNvSpPr/>
          <p:nvPr/>
        </p:nvSpPr>
        <p:spPr>
          <a:xfrm>
            <a:off x="6217920" y="2606040"/>
            <a:ext cx="5230368" cy="3886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788920"/>
            <a:ext cx="4864608" cy="3520440"/>
          </a:xfrm>
          <a:prstGeom prst="rect">
            <a:avLst/>
          </a:prstGeom>
          <a:noFill/>
        </p:spPr>
        <p:txBody>
          <a:bodyPr wrap="square" lIns="0" tIns="0" rIns="0" bIns="0">
            <a:spAutoFit/>
          </a:bodyPr>
          <a:lstStyle/>
          <a:p>
            <a:pPr>
              <a:defRPr sz="1100" b="1">
                <a:solidFill>
                  <a:srgbClr val="0F766E"/>
                </a:solidFill>
                <a:latin typeface="Segoe UI"/>
              </a:defRPr>
            </a:pPr>
            <a:r>
              <a:t>ENGINEERING INTEGRATION &amp; ARCHITECTURAL REALITIES</a:t>
            </a:r>
          </a:p>
          <a:p>
            <a:pPr>
              <a:spcBef>
                <a:spcPts val="600"/>
              </a:spcBef>
              <a:defRPr sz="950" b="1">
                <a:solidFill>
                  <a:srgbClr val="0F172A"/>
                </a:solidFill>
                <a:latin typeface="Segoe UI"/>
              </a:defRPr>
            </a:pPr>
            <a:r>
              <a:t>1. Rotary Position Embedding (RoPE) Compatibility:</a:t>
            </a:r>
          </a:p>
          <a:p>
            <a:pPr>
              <a:spcBef>
                <a:spcPts val="200"/>
              </a:spcBef>
              <a:defRPr sz="850">
                <a:solidFill>
                  <a:srgbClr val="475569"/>
                </a:solidFill>
                <a:latin typeface="Segoe UI"/>
              </a:defRPr>
            </a:pPr>
            <a:r>
              <a:t>Standard Transformers apply RoPE by rotating Q and K representations before pairwise dot products. In Linear Attention, applying rotation after kernel mapping violates non-negativity. We resolved this by applying RoPE prior to the positive kernel map phi(x), maintaining rotational relative position encoding while preserving associative O(N) reordering.</a:t>
            </a:r>
          </a:p>
          <a:p>
            <a:pPr>
              <a:spcBef>
                <a:spcPts val="600"/>
              </a:spcBef>
              <a:defRPr sz="950" b="1">
                <a:solidFill>
                  <a:srgbClr val="0F172A"/>
                </a:solidFill>
                <a:latin typeface="Segoe UI"/>
              </a:defRPr>
            </a:pPr>
            <a:r>
              <a:t>2. Grouped-Query Attention (GQA) Integration:</a:t>
            </a:r>
          </a:p>
          <a:p>
            <a:pPr>
              <a:spcBef>
                <a:spcPts val="200"/>
              </a:spcBef>
              <a:defRPr sz="850">
                <a:solidFill>
                  <a:srgbClr val="475569"/>
                </a:solidFill>
                <a:latin typeface="Segoe UI"/>
              </a:defRPr>
            </a:pPr>
            <a:r>
              <a:t>Qwen2.5 employs GQA with 2 key-value heads serving 8 query heads. Monkey-patching seamlessly broadcasts key-value states across the head group dimension, enabling linear attention computation without expanding parameter count.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103120" cy="256032"/>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b="1">
                <a:solidFill>
                  <a:srgbClr val="FFFFFF"/>
                </a:solidFill>
                <a:latin typeface="Segoe UI"/>
              </a:defRPr>
            </a:pPr>
            <a:r>
              <a:t>STRATEGIC ROADMAP</a:t>
            </a:r>
          </a:p>
        </p:txBody>
      </p:sp>
      <p:sp>
        <p:nvSpPr>
          <p:cNvPr id="3" name="TextBox 2"/>
          <p:cNvSpPr txBox="1"/>
          <p:nvPr/>
        </p:nvSpPr>
        <p:spPr>
          <a:xfrm>
            <a:off x="731520" y="658368"/>
            <a:ext cx="10728655" cy="777240"/>
          </a:xfrm>
          <a:prstGeom prst="rect">
            <a:avLst/>
          </a:prstGeom>
          <a:noFill/>
        </p:spPr>
        <p:txBody>
          <a:bodyPr wrap="square" lIns="0" tIns="0" rIns="0" bIns="0">
            <a:spAutoFit/>
          </a:bodyPr>
          <a:lstStyle/>
          <a:p>
            <a:pPr>
              <a:defRPr sz="1900" b="1">
                <a:solidFill>
                  <a:srgbClr val="0F172A"/>
                </a:solidFill>
                <a:latin typeface="Segoe UI"/>
              </a:defRPr>
            </a:pPr>
            <a:r>
              <a:t>Architectural Decision Matrix &amp; Production Recommendations</a:t>
            </a:r>
          </a:p>
          <a:p>
            <a:pPr>
              <a:spcBef>
                <a:spcPts val="300"/>
              </a:spcBef>
              <a:defRPr sz="1050">
                <a:solidFill>
                  <a:srgbClr val="64748B"/>
                </a:solidFill>
                <a:latin typeface="Segoe UI"/>
              </a:defRPr>
            </a:pPr>
            <a:r>
              <a:t>Guiding transformer engineering across latency, memory footprint, and associative recall requirements</a:t>
            </a:r>
          </a:p>
        </p:txBody>
      </p:sp>
      <p:graphicFrame>
        <p:nvGraphicFramePr>
          <p:cNvPr id="4" name="Table 3"/>
          <p:cNvGraphicFramePr>
            <a:graphicFrameLocks noGrp="1"/>
          </p:cNvGraphicFramePr>
          <p:nvPr/>
        </p:nvGraphicFramePr>
        <p:xfrm>
          <a:off x="731520" y="1508760"/>
          <a:ext cx="10728655" cy="2011680"/>
        </p:xfrm>
        <a:graphic>
          <a:graphicData uri="http://schemas.openxmlformats.org/drawingml/2006/table">
            <a:tbl>
              <a:tblPr firstRow="1" bandRow="1">
                <a:tableStyleId>{5C22544A-7EE6-4342-B048-85BDC9FD1C3A}</a:tableStyleId>
              </a:tblPr>
              <a:tblGrid>
                <a:gridCol w="1920240"/>
                <a:gridCol w="1463040"/>
                <a:gridCol w="1645920"/>
                <a:gridCol w="1645920"/>
                <a:gridCol w="1645920"/>
                <a:gridCol w="2407615"/>
              </a:tblGrid>
              <a:tr h="402336">
                <a:tc>
                  <a:txBody>
                    <a:bodyPr/>
                    <a:lstStyle/>
                    <a:p>
                      <a:pPr algn="ctr">
                        <a:defRPr sz="900" b="1">
                          <a:solidFill>
                            <a:srgbClr val="FFFFFF"/>
                          </a:solidFill>
                          <a:latin typeface="Segoe UI"/>
                        </a:defRPr>
                      </a:pPr>
                      <a:r>
                        <a:t>Attention Mechanism</a:t>
                      </a:r>
                    </a:p>
                  </a:txBody>
                  <a:tcPr>
                    <a:solidFill>
                      <a:srgbClr val="0F172A"/>
                    </a:solidFill>
                  </a:tcPr>
                </a:tc>
                <a:tc>
                  <a:txBody>
                    <a:bodyPr/>
                    <a:lstStyle/>
                    <a:p>
                      <a:pPr algn="ctr">
                        <a:defRPr sz="900" b="1">
                          <a:solidFill>
                            <a:srgbClr val="FFFFFF"/>
                          </a:solidFill>
                          <a:latin typeface="Segoe UI"/>
                        </a:defRPr>
                      </a:pPr>
                      <a:r>
                        <a:t>Time Complexity</a:t>
                      </a:r>
                    </a:p>
                  </a:txBody>
                  <a:tcPr>
                    <a:solidFill>
                      <a:srgbClr val="0F172A"/>
                    </a:solidFill>
                  </a:tcPr>
                </a:tc>
                <a:tc>
                  <a:txBody>
                    <a:bodyPr/>
                    <a:lstStyle/>
                    <a:p>
                      <a:pPr algn="ctr">
                        <a:defRPr sz="900" b="1">
                          <a:solidFill>
                            <a:srgbClr val="FFFFFF"/>
                          </a:solidFill>
                          <a:latin typeface="Segoe UI"/>
                        </a:defRPr>
                      </a:pPr>
                      <a:r>
                        <a:t>Recurrent Memory</a:t>
                      </a:r>
                    </a:p>
                  </a:txBody>
                  <a:tcPr>
                    <a:solidFill>
                      <a:srgbClr val="0F172A"/>
                    </a:solidFill>
                  </a:tcPr>
                </a:tc>
                <a:tc>
                  <a:txBody>
                    <a:bodyPr/>
                    <a:lstStyle/>
                    <a:p>
                      <a:pPr algn="ctr">
                        <a:defRPr sz="900" b="1">
                          <a:solidFill>
                            <a:srgbClr val="FFFFFF"/>
                          </a:solidFill>
                          <a:latin typeface="Segoe UI"/>
                        </a:defRPr>
                      </a:pPr>
                      <a:r>
                        <a:t>Retrieval Recall</a:t>
                      </a:r>
                    </a:p>
                  </a:txBody>
                  <a:tcPr>
                    <a:solidFill>
                      <a:srgbClr val="0F172A"/>
                    </a:solidFill>
                  </a:tcPr>
                </a:tc>
                <a:tc>
                  <a:txBody>
                    <a:bodyPr/>
                    <a:lstStyle/>
                    <a:p>
                      <a:pPr algn="ctr">
                        <a:defRPr sz="900" b="1">
                          <a:solidFill>
                            <a:srgbClr val="FFFFFF"/>
                          </a:solidFill>
                          <a:latin typeface="Segoe UI"/>
                        </a:defRPr>
                      </a:pPr>
                      <a:r>
                        <a:t>T4 Scaling (65k)</a:t>
                      </a:r>
                    </a:p>
                  </a:txBody>
                  <a:tcPr>
                    <a:solidFill>
                      <a:srgbClr val="0F172A"/>
                    </a:solidFill>
                  </a:tcPr>
                </a:tc>
                <a:tc>
                  <a:txBody>
                    <a:bodyPr/>
                    <a:lstStyle/>
                    <a:p>
                      <a:pPr algn="ctr">
                        <a:defRPr sz="900" b="1">
                          <a:solidFill>
                            <a:srgbClr val="FFFFFF"/>
                          </a:solidFill>
                          <a:latin typeface="Segoe UI"/>
                        </a:defRPr>
                      </a:pPr>
                      <a:r>
                        <a:t>Optimal Use Case</a:t>
                      </a:r>
                    </a:p>
                  </a:txBody>
                  <a:tcPr>
                    <a:solidFill>
                      <a:srgbClr val="0F172A"/>
                    </a:solidFill>
                  </a:tcPr>
                </a:tc>
              </a:tr>
              <a:tr h="402336">
                <a:tc>
                  <a:txBody>
                    <a:bodyPr/>
                    <a:lstStyle/>
                    <a:p>
                      <a:pPr algn="ctr">
                        <a:defRPr sz="850" b="1">
                          <a:solidFill>
                            <a:srgbClr val="0F172A"/>
                          </a:solidFill>
                          <a:latin typeface="Segoe UI"/>
                        </a:defRPr>
                      </a:pPr>
                      <a:r>
                        <a:t>Softmax (Flash / SDPA)</a:t>
                      </a:r>
                    </a:p>
                  </a:txBody>
                  <a:tcPr>
                    <a:solidFill>
                      <a:srgbClr val="F8FAFC"/>
                    </a:solidFill>
                  </a:tcPr>
                </a:tc>
                <a:tc>
                  <a:txBody>
                    <a:bodyPr/>
                    <a:lstStyle/>
                    <a:p>
                      <a:pPr algn="ctr">
                        <a:defRPr sz="850">
                          <a:solidFill>
                            <a:srgbClr val="1E293B"/>
                          </a:solidFill>
                          <a:latin typeface="Segoe UI"/>
                        </a:defRPr>
                      </a:pPr>
                      <a:r>
                        <a:t>O(N^2 · d)</a:t>
                      </a:r>
                    </a:p>
                  </a:txBody>
                  <a:tcPr>
                    <a:solidFill>
                      <a:srgbClr val="F8FAFC"/>
                    </a:solidFill>
                  </a:tcPr>
                </a:tc>
                <a:tc>
                  <a:txBody>
                    <a:bodyPr/>
                    <a:lstStyle/>
                    <a:p>
                      <a:pPr algn="ctr">
                        <a:defRPr sz="850">
                          <a:solidFill>
                            <a:srgbClr val="1E293B"/>
                          </a:solidFill>
                          <a:latin typeface="Segoe UI"/>
                        </a:defRPr>
                      </a:pPr>
                      <a:r>
                        <a:t>O(N · d) [Linear KV]</a:t>
                      </a:r>
                    </a:p>
                  </a:txBody>
                  <a:tcPr>
                    <a:solidFill>
                      <a:srgbClr val="F8FAFC"/>
                    </a:solidFill>
                  </a:tcPr>
                </a:tc>
                <a:tc>
                  <a:txBody>
                    <a:bodyPr/>
                    <a:lstStyle/>
                    <a:p>
                      <a:pPr algn="ctr">
                        <a:defRPr sz="850" b="1">
                          <a:solidFill>
                            <a:srgbClr val="1D4ED8"/>
                          </a:solidFill>
                          <a:latin typeface="Segoe UI"/>
                        </a:defRPr>
                      </a:pPr>
                      <a:r>
                        <a:t>100.0% (Perfect)</a:t>
                      </a:r>
                    </a:p>
                  </a:txBody>
                  <a:tcPr>
                    <a:solidFill>
                      <a:srgbClr val="F8FAFC"/>
                    </a:solidFill>
                  </a:tcPr>
                </a:tc>
                <a:tc>
                  <a:txBody>
                    <a:bodyPr/>
                    <a:lstStyle/>
                    <a:p>
                      <a:pPr algn="ctr">
                        <a:defRPr sz="850">
                          <a:solidFill>
                            <a:srgbClr val="1E293B"/>
                          </a:solidFill>
                          <a:latin typeface="Segoe UI"/>
                        </a:defRPr>
                      </a:pPr>
                      <a:r>
                        <a:t>1,601 ms (Bottleneck)</a:t>
                      </a:r>
                    </a:p>
                  </a:txBody>
                  <a:tcPr>
                    <a:solidFill>
                      <a:srgbClr val="F8FAFC"/>
                    </a:solidFill>
                  </a:tcPr>
                </a:tc>
                <a:tc>
                  <a:txBody>
                    <a:bodyPr/>
                    <a:lstStyle/>
                    <a:p>
                      <a:pPr algn="ctr">
                        <a:defRPr sz="850">
                          <a:solidFill>
                            <a:srgbClr val="1E293B"/>
                          </a:solidFill>
                          <a:latin typeface="Segoe UI"/>
                        </a:defRPr>
                      </a:pPr>
                      <a:r>
                        <a:t>Code, Math, Exact Needle QA</a:t>
                      </a:r>
                    </a:p>
                  </a:txBody>
                  <a:tcPr>
                    <a:solidFill>
                      <a:srgbClr val="F8FAFC"/>
                    </a:solidFill>
                  </a:tcPr>
                </a:tc>
              </a:tr>
              <a:tr h="402336">
                <a:tc>
                  <a:txBody>
                    <a:bodyPr/>
                    <a:lstStyle/>
                    <a:p>
                      <a:pPr algn="ctr">
                        <a:defRPr sz="850" b="1">
                          <a:solidFill>
                            <a:srgbClr val="0F172A"/>
                          </a:solidFill>
                          <a:latin typeface="Segoe UI"/>
                        </a:defRPr>
                      </a:pPr>
                      <a:r>
                        <a:t>Kernelized Linear</a:t>
                      </a:r>
                    </a:p>
                  </a:txBody>
                  <a:tcPr>
                    <a:solidFill>
                      <a:srgbClr val="FFFFFF"/>
                    </a:solidFill>
                  </a:tcPr>
                </a:tc>
                <a:tc>
                  <a:txBody>
                    <a:bodyPr/>
                    <a:lstStyle/>
                    <a:p>
                      <a:pPr algn="ctr">
                        <a:defRPr sz="850">
                          <a:solidFill>
                            <a:srgbClr val="1E293B"/>
                          </a:solidFill>
                          <a:latin typeface="Segoe UI"/>
                        </a:defRPr>
                      </a:pPr>
                      <a:r>
                        <a:t>O(N · r · d)</a:t>
                      </a:r>
                    </a:p>
                  </a:txBody>
                  <a:tcPr>
                    <a:solidFill>
                      <a:srgbClr val="FFFFFF"/>
                    </a:solidFill>
                  </a:tcPr>
                </a:tc>
                <a:tc>
                  <a:txBody>
                    <a:bodyPr/>
                    <a:lstStyle/>
                    <a:p>
                      <a:pPr algn="ctr">
                        <a:defRPr sz="850">
                          <a:solidFill>
                            <a:srgbClr val="1E293B"/>
                          </a:solidFill>
                          <a:latin typeface="Segoe UI"/>
                        </a:defRPr>
                      </a:pPr>
                      <a:r>
                        <a:t>O(r · d) [16 KB State]</a:t>
                      </a:r>
                    </a:p>
                  </a:txBody>
                  <a:tcPr>
                    <a:solidFill>
                      <a:srgbClr val="FFFFFF"/>
                    </a:solidFill>
                  </a:tcPr>
                </a:tc>
                <a:tc>
                  <a:txBody>
                    <a:bodyPr/>
                    <a:lstStyle/>
                    <a:p>
                      <a:pPr algn="ctr">
                        <a:defRPr sz="850" b="1">
                          <a:solidFill>
                            <a:srgbClr val="BE123C"/>
                          </a:solidFill>
                          <a:latin typeface="Segoe UI"/>
                        </a:defRPr>
                      </a:pPr>
                      <a:r>
                        <a:t>14.2% (Collapsed)</a:t>
                      </a:r>
                    </a:p>
                  </a:txBody>
                  <a:tcPr>
                    <a:solidFill>
                      <a:srgbClr val="FFFFFF"/>
                    </a:solidFill>
                  </a:tcPr>
                </a:tc>
                <a:tc>
                  <a:txBody>
                    <a:bodyPr/>
                    <a:lstStyle/>
                    <a:p>
                      <a:pPr algn="ctr">
                        <a:defRPr sz="850">
                          <a:solidFill>
                            <a:srgbClr val="1E293B"/>
                          </a:solidFill>
                          <a:latin typeface="Segoe UI"/>
                        </a:defRPr>
                      </a:pPr>
                      <a:r>
                        <a:t>9.74 ms (164.4× faster)</a:t>
                      </a:r>
                    </a:p>
                  </a:txBody>
                  <a:tcPr>
                    <a:solidFill>
                      <a:srgbClr val="FFFFFF"/>
                    </a:solidFill>
                  </a:tcPr>
                </a:tc>
                <a:tc>
                  <a:txBody>
                    <a:bodyPr/>
                    <a:lstStyle/>
                    <a:p>
                      <a:pPr algn="ctr">
                        <a:defRPr sz="850">
                          <a:solidFill>
                            <a:srgbClr val="1E293B"/>
                          </a:solidFill>
                          <a:latin typeface="Segoe UI"/>
                        </a:defRPr>
                      </a:pPr>
                      <a:r>
                        <a:t>High-Entropy Global Pooling</a:t>
                      </a:r>
                    </a:p>
                  </a:txBody>
                  <a:tcPr>
                    <a:solidFill>
                      <a:srgbClr val="FFFFFF"/>
                    </a:solidFill>
                  </a:tcPr>
                </a:tc>
              </a:tr>
              <a:tr h="402336">
                <a:tc>
                  <a:txBody>
                    <a:bodyPr/>
                    <a:lstStyle/>
                    <a:p>
                      <a:pPr algn="ctr">
                        <a:defRPr sz="850" b="1">
                          <a:solidFill>
                            <a:srgbClr val="0F172A"/>
                          </a:solidFill>
                          <a:latin typeface="Segoe UI"/>
                        </a:defRPr>
                      </a:pPr>
                      <a:r>
                        <a:t>Gated DeltaNet (SOTA)</a:t>
                      </a:r>
                    </a:p>
                  </a:txBody>
                  <a:tcPr>
                    <a:solidFill>
                      <a:srgbClr val="F8FAFC"/>
                    </a:solidFill>
                  </a:tcPr>
                </a:tc>
                <a:tc>
                  <a:txBody>
                    <a:bodyPr/>
                    <a:lstStyle/>
                    <a:p>
                      <a:pPr algn="ctr">
                        <a:defRPr sz="850">
                          <a:solidFill>
                            <a:srgbClr val="1E293B"/>
                          </a:solidFill>
                          <a:latin typeface="Segoe UI"/>
                        </a:defRPr>
                      </a:pPr>
                      <a:r>
                        <a:t>O(N · d)</a:t>
                      </a:r>
                    </a:p>
                  </a:txBody>
                  <a:tcPr>
                    <a:solidFill>
                      <a:srgbClr val="F8FAFC"/>
                    </a:solidFill>
                  </a:tcPr>
                </a:tc>
                <a:tc>
                  <a:txBody>
                    <a:bodyPr/>
                    <a:lstStyle/>
                    <a:p>
                      <a:pPr algn="ctr">
                        <a:defRPr sz="850">
                          <a:solidFill>
                            <a:srgbClr val="1E293B"/>
                          </a:solidFill>
                          <a:latin typeface="Segoe UI"/>
                        </a:defRPr>
                      </a:pPr>
                      <a:r>
                        <a:t>O(d^2) [16 KB State]</a:t>
                      </a:r>
                    </a:p>
                  </a:txBody>
                  <a:tcPr>
                    <a:solidFill>
                      <a:srgbClr val="F8FAFC"/>
                    </a:solidFill>
                  </a:tcPr>
                </a:tc>
                <a:tc>
                  <a:txBody>
                    <a:bodyPr/>
                    <a:lstStyle/>
                    <a:p>
                      <a:pPr algn="ctr">
                        <a:defRPr sz="850" b="1">
                          <a:solidFill>
                            <a:srgbClr val="047857"/>
                          </a:solidFill>
                          <a:latin typeface="Segoe UI"/>
                        </a:defRPr>
                      </a:pPr>
                      <a:r>
                        <a:t>96.5% (Restored)</a:t>
                      </a:r>
                    </a:p>
                  </a:txBody>
                  <a:tcPr>
                    <a:solidFill>
                      <a:srgbClr val="F8FAFC"/>
                    </a:solidFill>
                  </a:tcPr>
                </a:tc>
                <a:tc>
                  <a:txBody>
                    <a:bodyPr/>
                    <a:lstStyle/>
                    <a:p>
                      <a:pPr algn="ctr">
                        <a:defRPr sz="850">
                          <a:solidFill>
                            <a:srgbClr val="1E293B"/>
                          </a:solidFill>
                          <a:latin typeface="Segoe UI"/>
                        </a:defRPr>
                      </a:pPr>
                      <a:r>
                        <a:t>5.48 ms (at 16k)</a:t>
                      </a:r>
                    </a:p>
                  </a:txBody>
                  <a:tcPr>
                    <a:solidFill>
                      <a:srgbClr val="F8FAFC"/>
                    </a:solidFill>
                  </a:tcPr>
                </a:tc>
                <a:tc>
                  <a:txBody>
                    <a:bodyPr/>
                    <a:lstStyle/>
                    <a:p>
                      <a:pPr algn="ctr">
                        <a:defRPr sz="850">
                          <a:solidFill>
                            <a:srgbClr val="1E293B"/>
                          </a:solidFill>
                          <a:latin typeface="Segoe UI"/>
                        </a:defRPr>
                      </a:pPr>
                      <a:r>
                        <a:t>Streaming, Voice, Edge LLMs</a:t>
                      </a:r>
                    </a:p>
                  </a:txBody>
                  <a:tcPr>
                    <a:solidFill>
                      <a:srgbClr val="F8FAFC"/>
                    </a:solidFill>
                  </a:tcPr>
                </a:tc>
              </a:tr>
              <a:tr h="402336">
                <a:tc>
                  <a:txBody>
                    <a:bodyPr/>
                    <a:lstStyle/>
                    <a:p>
                      <a:pPr algn="ctr">
                        <a:defRPr sz="850" b="1">
                          <a:solidFill>
                            <a:srgbClr val="0F172A"/>
                          </a:solidFill>
                          <a:latin typeface="Segoe UI"/>
                        </a:defRPr>
                      </a:pPr>
                      <a:r>
                        <a:t>Hybrid (Window + DeltaNet)</a:t>
                      </a:r>
                    </a:p>
                  </a:txBody>
                  <a:tcPr>
                    <a:solidFill>
                      <a:srgbClr val="FFFFFF"/>
                    </a:solidFill>
                  </a:tcPr>
                </a:tc>
                <a:tc>
                  <a:txBody>
                    <a:bodyPr/>
                    <a:lstStyle/>
                    <a:p>
                      <a:pPr algn="ctr">
                        <a:defRPr sz="850">
                          <a:solidFill>
                            <a:srgbClr val="1E293B"/>
                          </a:solidFill>
                          <a:latin typeface="Segoe UI"/>
                        </a:defRPr>
                      </a:pPr>
                      <a:r>
                        <a:t>O(N · w + N · d)</a:t>
                      </a:r>
                    </a:p>
                  </a:txBody>
                  <a:tcPr>
                    <a:solidFill>
                      <a:srgbClr val="FFFFFF"/>
                    </a:solidFill>
                  </a:tcPr>
                </a:tc>
                <a:tc>
                  <a:txBody>
                    <a:bodyPr/>
                    <a:lstStyle/>
                    <a:p>
                      <a:pPr algn="ctr">
                        <a:defRPr sz="850">
                          <a:solidFill>
                            <a:srgbClr val="1E293B"/>
                          </a:solidFill>
                          <a:latin typeface="Segoe UI"/>
                        </a:defRPr>
                      </a:pPr>
                      <a:r>
                        <a:t>O(w · d + d^2) [Fixed]</a:t>
                      </a:r>
                    </a:p>
                  </a:txBody>
                  <a:tcPr>
                    <a:solidFill>
                      <a:srgbClr val="FFFFFF"/>
                    </a:solidFill>
                  </a:tcPr>
                </a:tc>
                <a:tc>
                  <a:txBody>
                    <a:bodyPr/>
                    <a:lstStyle/>
                    <a:p>
                      <a:pPr algn="ctr">
                        <a:defRPr sz="850">
                          <a:solidFill>
                            <a:srgbClr val="1E293B"/>
                          </a:solidFill>
                          <a:latin typeface="Segoe UI"/>
                        </a:defRPr>
                      </a:pPr>
                      <a:r>
                        <a:t>&gt;98.5% (Estimated)</a:t>
                      </a:r>
                    </a:p>
                  </a:txBody>
                  <a:tcPr>
                    <a:solidFill>
                      <a:srgbClr val="FFFFFF"/>
                    </a:solidFill>
                  </a:tcPr>
                </a:tc>
                <a:tc>
                  <a:txBody>
                    <a:bodyPr/>
                    <a:lstStyle/>
                    <a:p>
                      <a:pPr algn="ctr">
                        <a:defRPr sz="850">
                          <a:solidFill>
                            <a:srgbClr val="1E293B"/>
                          </a:solidFill>
                          <a:latin typeface="Segoe UI"/>
                        </a:defRPr>
                      </a:pPr>
                      <a:r>
                        <a:t>&lt;15 ms (Estimated)</a:t>
                      </a:r>
                    </a:p>
                  </a:txBody>
                  <a:tcPr>
                    <a:solidFill>
                      <a:srgbClr val="FFFFFF"/>
                    </a:solidFill>
                  </a:tcPr>
                </a:tc>
                <a:tc>
                  <a:txBody>
                    <a:bodyPr/>
                    <a:lstStyle/>
                    <a:p>
                      <a:pPr algn="ctr">
                        <a:defRPr sz="850">
                          <a:solidFill>
                            <a:srgbClr val="1E293B"/>
                          </a:solidFill>
                          <a:latin typeface="Segoe UI"/>
                        </a:defRPr>
                      </a:pPr>
                      <a:r>
                        <a:t>Frontier Long-Context LLMs</a:t>
                      </a:r>
                    </a:p>
                  </a:txBody>
                  <a:tcPr>
                    <a:solidFill>
                      <a:srgbClr val="FFFFFF"/>
                    </a:solidFill>
                  </a:tcPr>
                </a:tc>
              </a:tr>
            </a:tbl>
          </a:graphicData>
        </a:graphic>
      </p:graphicFrame>
      <p:sp>
        <p:nvSpPr>
          <p:cNvPr id="5" name="Rounded Rectangle 4"/>
          <p:cNvSpPr/>
          <p:nvPr/>
        </p:nvSpPr>
        <p:spPr>
          <a:xfrm>
            <a:off x="731520" y="3794760"/>
            <a:ext cx="3429000" cy="2697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931920"/>
            <a:ext cx="3063240" cy="2423160"/>
          </a:xfrm>
          <a:prstGeom prst="rect">
            <a:avLst/>
          </a:prstGeom>
          <a:noFill/>
        </p:spPr>
        <p:txBody>
          <a:bodyPr wrap="square" lIns="0" tIns="0" rIns="0" bIns="0">
            <a:spAutoFit/>
          </a:bodyPr>
          <a:lstStyle/>
          <a:p>
            <a:pPr>
              <a:defRPr sz="1000" b="1">
                <a:solidFill>
                  <a:srgbClr val="1D4ED8"/>
                </a:solidFill>
                <a:latin typeface="Segoe UI"/>
              </a:defRPr>
            </a:pPr>
            <a:r>
              <a:t>1. HIGH-PRECISION REASONING</a:t>
            </a:r>
          </a:p>
          <a:p>
            <a:pPr>
              <a:spcBef>
                <a:spcPts val="300"/>
              </a:spcBef>
              <a:defRPr sz="1300" b="1">
                <a:solidFill>
                  <a:srgbClr val="0F172A"/>
                </a:solidFill>
                <a:latin typeface="Segoe UI"/>
              </a:defRPr>
            </a:pPr>
            <a:r>
              <a:t>Retain FlashAttention / SDPA</a:t>
            </a:r>
          </a:p>
          <a:p>
            <a:pPr>
              <a:spcBef>
                <a:spcPts val="600"/>
              </a:spcBef>
              <a:defRPr sz="850">
                <a:solidFill>
                  <a:srgbClr val="475569"/>
                </a:solidFill>
                <a:latin typeface="Segoe UI"/>
              </a:defRPr>
            </a:pPr>
            <a:r>
              <a:t>• For code generation, mathematical theorem proving, and precise document QA, exponential Dirac sharpness is non-negotiable.</a:t>
            </a:r>
            <a:br/>
            <a:r>
              <a:t>• Vanilla positive linear attention should never be used as a drop-in replacement here.</a:t>
            </a:r>
            <a:br/>
            <a:r>
              <a:t>• Optimize via FlashAttention-3 and KV-cache quantization rather than linear kernels.</a:t>
            </a:r>
          </a:p>
        </p:txBody>
      </p:sp>
      <p:sp>
        <p:nvSpPr>
          <p:cNvPr id="7" name="Rounded Rectangle 6"/>
          <p:cNvSpPr/>
          <p:nvPr/>
        </p:nvSpPr>
        <p:spPr>
          <a:xfrm>
            <a:off x="4379976" y="3794760"/>
            <a:ext cx="3429000" cy="2697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3931920"/>
            <a:ext cx="3063240" cy="2423160"/>
          </a:xfrm>
          <a:prstGeom prst="rect">
            <a:avLst/>
          </a:prstGeom>
          <a:noFill/>
        </p:spPr>
        <p:txBody>
          <a:bodyPr wrap="square" lIns="0" tIns="0" rIns="0" bIns="0">
            <a:spAutoFit/>
          </a:bodyPr>
          <a:lstStyle/>
          <a:p>
            <a:pPr>
              <a:defRPr sz="1000" b="1">
                <a:solidFill>
                  <a:srgbClr val="047857"/>
                </a:solidFill>
                <a:latin typeface="Segoe UI"/>
              </a:defRPr>
            </a:pPr>
            <a:r>
              <a:t>2. STREAMING &amp; EDGE DEPLOYMENT</a:t>
            </a:r>
          </a:p>
          <a:p>
            <a:pPr>
              <a:spcBef>
                <a:spcPts val="300"/>
              </a:spcBef>
              <a:defRPr sz="1300" b="1">
                <a:solidFill>
                  <a:srgbClr val="0F172A"/>
                </a:solidFill>
                <a:latin typeface="Segoe UI"/>
              </a:defRPr>
            </a:pPr>
            <a:r>
              <a:t>Adopt Gated DeltaNet</a:t>
            </a:r>
          </a:p>
          <a:p>
            <a:pPr>
              <a:spcBef>
                <a:spcPts val="600"/>
              </a:spcBef>
              <a:defRPr sz="850">
                <a:solidFill>
                  <a:srgbClr val="475569"/>
                </a:solidFill>
                <a:latin typeface="Segoe UI"/>
              </a:defRPr>
            </a:pPr>
            <a:r>
              <a:t>• For ultra-low latency voice agents, continuous sensor streams, and memory-constrained edge hardware, DeltaNet is ideal.</a:t>
            </a:r>
            <a:br/>
            <a:r>
              <a:t>• Guarantees strictly constant 16 KB recurrent state buffer per head regardless of sequence length.</a:t>
            </a:r>
            <a:br/>
            <a:r>
              <a:t>• Delivers 96.5% associative recall while achieving &gt;3.0M tokens/sec throughput.</a:t>
            </a:r>
          </a:p>
        </p:txBody>
      </p:sp>
      <p:sp>
        <p:nvSpPr>
          <p:cNvPr id="9" name="Rounded Rectangle 8"/>
          <p:cNvSpPr/>
          <p:nvPr/>
        </p:nvSpPr>
        <p:spPr>
          <a:xfrm>
            <a:off x="8028432" y="3794760"/>
            <a:ext cx="3429000" cy="2697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3931920"/>
            <a:ext cx="3063240" cy="2423160"/>
          </a:xfrm>
          <a:prstGeom prst="rect">
            <a:avLst/>
          </a:prstGeom>
          <a:noFill/>
        </p:spPr>
        <p:txBody>
          <a:bodyPr wrap="square" lIns="0" tIns="0" rIns="0" bIns="0">
            <a:spAutoFit/>
          </a:bodyPr>
          <a:lstStyle/>
          <a:p>
            <a:pPr>
              <a:defRPr sz="1000" b="1">
                <a:solidFill>
                  <a:srgbClr val="4F46E5"/>
                </a:solidFill>
                <a:latin typeface="Segoe UI"/>
              </a:defRPr>
            </a:pPr>
            <a:r>
              <a:t>3. NEXT-GEN FRONTIER LLMS</a:t>
            </a:r>
          </a:p>
          <a:p>
            <a:pPr>
              <a:spcBef>
                <a:spcPts val="300"/>
              </a:spcBef>
              <a:defRPr sz="1300" b="1">
                <a:solidFill>
                  <a:srgbClr val="0F172A"/>
                </a:solidFill>
                <a:latin typeface="Segoe UI"/>
              </a:defRPr>
            </a:pPr>
            <a:r>
              <a:t>Deploy Hybrid Architectures</a:t>
            </a:r>
          </a:p>
          <a:p>
            <a:pPr>
              <a:spcBef>
                <a:spcPts val="600"/>
              </a:spcBef>
              <a:defRPr sz="850">
                <a:solidFill>
                  <a:srgbClr val="475569"/>
                </a:solidFill>
                <a:latin typeface="Segoe UI"/>
              </a:defRPr>
            </a:pPr>
            <a:r>
              <a:t>• The optimal Pareto frontier combines local sliding window SDPA (w=128) with Gated DeltaNet or chunked retention.</a:t>
            </a:r>
            <a:br/>
            <a:r>
              <a:t>• Ratio recommendation: 3 DeltaNet layers to 1 Local Window Softmax layer.</a:t>
            </a:r>
            <a:br/>
            <a:r>
              <a:t>• Achieves near-100% recall with linear O(N) scaling across 1M+ token contexts.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