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Plain-language verdict. Basic and detailed speed claims are different cohorts. Basic: efficiency.csv method linear/sdpa, dtype fp32, N65536, noncausal. Retrieval: retrieval.csv fp32 beta64 N4096 trials300. Detailed synthetic: scaling.csv one-shot speedup aggregated as in make_router_detailed_report.py, N8192/32768/65536. Median crossover is not a universal safe-length boundary, and timing does not establish accuracy. Detailed Qwen: matched qwen_quality.csv/qwen_prefill.csv context2048 quality, N1024..8192 timing. Drift: scaling_heads.csv nonempty cache_target, rank&gt;0, unit-scale target, n1346. Rare-query/full-query errors: scaling_heads.csv validation_scope all_query_rows. Source snapshot8096d83526f4d134778e438484fc02a5ff1f2af7. Original source repository https://github.com/Jaiadithya71/linear-attention-benchmark. No measurements rerun. Supporting detail follows.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Source snapshot: 8096d83526f4d134778e438484fc02a5ff1f2af7. Repository: https://github.com/Jaiadithya71/linear-attention-benchmark</a:t>
            </a:r>
          </a:p>
          <a:p>
            <a:r>
              <a:t>Source: lab/attention.py; lab/adaptive.py; run_router_detailed.py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Source snapshot: 8096d83526f4d134778e438484fc02a5ff1f2af7. Repository: https://github.com/Jaiadithya71/linear-attention-benchmark</a:t>
            </a:r>
          </a:p>
          <a:p>
            <a:r>
              <a:t>Source: run_efficiency.py; run_retrieval.py; run_qwen.py; run_adaptive.py; lab/router_detailed.py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Source snapshot: 8096d83526f4d134778e438484fc02a5ff1f2af7. Repository: https://github.com/Jaiadithya71/linear-attention-benchmark</a:t>
            </a:r>
          </a:p>
          <a:p>
            <a:r>
              <a:t>Source: results/run_config_*.json; results/router_detailed*/manifest.json; qwen_data_manifest.json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fp16 SDPA 771.616 ms; linear 6.546 ms but nonfinite. fp16 linear_acc32 16.562 ms and finite. Naive first OOM: fp32 N16384, fp16 N32768. See next slide for memory.</a:t>
            </a:r>
          </a:p>
          <a:p>
            <a:r>
              <a:t>Source snapshot: 8096d83526f4d134778e438484fc02a5ff1f2af7. Repository: https://github.com/Jaiadithya71/linear-attention-benchmark</a:t>
            </a:r>
          </a:p>
          <a:p>
            <a:r>
              <a:t>Source: results/efficiency.csv; figures/latency.png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 N65536 fp32 extra MiB: SDPA128, linear514.0967; fp16 SDPA64, linear257.0483, linear_acc32642.0967. fp16 linear nonfinite at32768/65536; acc32 finite. OOMs not plotted as zero. Native math and complexity do not imply lower measured allocation than optimized exact kernels.</a:t>
            </a:r>
          </a:p>
          <a:p>
            <a:r>
              <a:t>Source snapshot: 8096d83526f4d134778e438484fc02a5ff1f2af7. Repository: https://github.com/Jaiadithya71/linear-attention-benchmark</a:t>
            </a:r>
          </a:p>
          <a:p>
            <a:r>
              <a:t>Source: results/efficiency.csv; figures/memory.png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Beta scales the query to make selection sharp. At fp32 beta64 N1024: local152/300, linear1/300; N65536 local3/300 linear0/300. SDPA 300/300 all settings. Wilson95 upper bound at0/300 is1.2643%; observed zero is not a true-probability guarantee. CIs in source.</a:t>
            </a:r>
          </a:p>
          <a:p>
            <a:r>
              <a:t>Source snapshot: 8096d83526f4d134778e438484fc02a5ff1f2af7. Repository: https://github.com/Jaiadithya71/linear-attention-benchmark</a:t>
            </a:r>
          </a:p>
          <a:p>
            <a:r>
              <a:t>Source: results/retrieval.csv; figures/retrieval.png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Source snapshot: 8096d83526f4d134778e438484fc02a5ff1f2af7. Repository: https://github.com/Jaiadithya71/linear-attention-benchmark</a:t>
            </a:r>
          </a:p>
          <a:p>
            <a:r>
              <a:t>Source: results/qwen_quality.csv; results/qwen_prefill.csv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cohort only. sdpa_mha expands grouped key/value heads. Do not pool original timings with the detailed CUDA12.8 cohort. N1024..32768, peak extra allocation measured. Untrained linear/local-window quality is worse on the matched original 16 windows.</a:t>
            </a:r>
          </a:p>
          <a:p>
            <a:r>
              <a:t>Source snapshot: 8096d83526f4d134778e438484fc02a5ff1f2af7. Repository: https://github.com/Jaiadithya71/linear-attention-benchmark</a:t>
            </a:r>
          </a:p>
          <a:p>
            <a:r>
              <a:t>Source: results/qwen_prefill.csv; figures/qwen_prefill.png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Source snapshot: 8096d83526f4d134778e438484fc02a5ff1f2af7. Repository: https://github.com/Jaiadithya71/linear-attention-benchmark</a:t>
            </a:r>
          </a:p>
          <a:p>
            <a:r>
              <a:t>Source: results/adaptive_efficiency.csv; adaptive_retrieval.csv; adaptive_qwen_quality.csv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Baseline PPL13.145472858. Original.1 13.146236413, oneshot.1 13.146910145, cached.1 baseline. Oneshot.4 +4.9255%, cached.4 +4.0813%. Timing transformer hidden-state prefill, not decode. Charts are original repository assets, not redrawn.</a:t>
            </a:r>
          </a:p>
          <a:p>
            <a:r>
              <a:t>Source snapshot: 8096d83526f4d134778e438484fc02a5ff1f2af7. Repository: https://github.com/Jaiadithya71/linear-attention-benchmark</a:t>
            </a:r>
          </a:p>
          <a:p>
            <a:r>
              <a:t>Source: results/router_detailed_qwen/qwen_quality.csv; qwen_prefill.csv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Source snapshot: 8096d83526f4d134778e438484fc02a5ff1f2af7. Repository: https://github.com/Jaiadithya71/linear-attention-benchmark</a:t>
            </a:r>
          </a:p>
          <a:p>
            <a:r>
              <a:t>Source: results/router_detailed_qwen/qwen_choices.csv; qwen_activation_heads.csv; qwen_prefill.csv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regimes x causal/noncausal x fp16/fp32. One-shot wins62/192 cells. Cached same-input84/192. Original59/178 successful;14/192 OOMs. Original survivor medians optimistic. Cached_same idealized, not deployment. Repeated8-call curve measured total normalized by actual8 calls.</a:t>
            </a:r>
          </a:p>
          <a:p>
            <a:r>
              <a:t>Source snapshot: 8096d83526f4d134778e438484fc02a5ff1f2af7. Repository: https://github.com/Jaiadithya71/linear-attention-benchmark</a:t>
            </a:r>
          </a:p>
          <a:p>
            <a:r>
              <a:t>Source: results/router_detailed/scaling.csv; make_router_detailed_report.py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Default filter tol=.1,n_probe16,rank&gt;0. 1006/1728 accepted;28 mean failures;350 p95 failures. Audits256 disjoint rows. Gate checks mean only, not p95. More probes reduce mean false acceptance, not a tail guarantee.</a:t>
            </a:r>
          </a:p>
          <a:p>
            <a:r>
              <a:t>Source snapshot: 8096d83526f4d134778e438484fc02a5ff1f2af7. Repository: https://github.com/Jaiadithya71/linear-attention-benchmark</a:t>
            </a:r>
          </a:p>
          <a:p>
            <a:r>
              <a:t>Source: results/router_detailed/sensitivity_heads.csv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38/684 selected-linear head cases have full-query mean&gt;.1. Chart max aggregation across512..4096 and both masks/dtypes. Rare max1.015, relative L2 not "2x wrong" and not model perplexity. Full-query audits beyond4096 unmeasured.</a:t>
            </a:r>
          </a:p>
          <a:p>
            <a:r>
              <a:t>Source snapshot: 8096d83526f4d134778e438484fc02a5ff1f2af7. Repository: https://github.com/Jaiadithya71/linear-attention-benchmark</a:t>
            </a:r>
          </a:p>
          <a:p>
            <a:r>
              <a:t>Source: results/router_detailed/scaling_heads.csv; validation_scope=all_query_rows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drift group has1346 reused-linear head cases. Same-distribution new draws sometimes fail. Shifted rare-sharp passes sampled mean/p95, but all-query rare-sharp result rules out interpreting sampled success as universal safety.</a:t>
            </a:r>
          </a:p>
          <a:p>
            <a:r>
              <a:t>Source snapshot: 8096d83526f4d134778e438484fc02a5ff1f2af7. Repository: https://github.com/Jaiadithya71/linear-attention-benchmark</a:t>
            </a:r>
          </a:p>
          <a:p>
            <a:r>
              <a:t>Source: results/router_detailed/scaling_heads.csv; nonempty cache_target, rank&gt;0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Source snapshot: 8096d83526f4d134778e438484fc02a5ff1f2af7. Repository: https://github.com/Jaiadithya71/linear-attention-benchmark</a:t>
            </a:r>
          </a:p>
          <a:p>
            <a:r>
              <a:t>Source: manifests; qwen_data_manifest.json; results/router_detailed/post_result_changes.md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Source snapshot: 8096d83526f4d134778e438484fc02a5ff1f2af7. Repository: https://github.com/Jaiadithya71/linear-attention-benchmark</a:t>
            </a:r>
          </a:p>
          <a:p>
            <a:r>
              <a:t>Source: all repository CSVs; current SUMMARY.md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Source snapshot: 8096d83526f4d134778e438484fc02a5ff1f2af7. Repository: https://github.com/Jaiadithya71/linear-attention-benchmark</a:t>
            </a:r>
          </a:p>
          <a:p>
            <a:r>
              <a:t>Source snapshot: 8096d83526f4d134778e438484fc02a5ff1f2af7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00584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35796D"/>
                </a:solidFill>
                <a:latin typeface="Arial"/>
              </a:defRPr>
            </a:pPr>
            <a:r>
              <a:t>LINEAR ATTENTION / EXPERIMENT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47120" cy="7315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400"/>
              </a:spcAft>
              <a:defRPr sz="2800" b="0">
                <a:solidFill>
                  <a:srgbClr val="251F21"/>
                </a:solidFill>
                <a:latin typeface="Georgia"/>
              </a:defRPr>
            </a:pPr>
            <a:r>
              <a:t>Result: faster synthetic tests, no real-model speedup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11155680" cy="56692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400"/>
              </a:spcAft>
              <a:defRPr sz="1900" b="0">
                <a:solidFill>
                  <a:srgbClr val="585254"/>
                </a:solidFill>
                <a:latin typeface="Arial"/>
              </a:defRPr>
            </a:pPr>
            <a:r>
              <a:t>We tried replacing exact attention with cheaper summaries, then routing only when error looked small.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103120"/>
            <a:ext cx="11064240" cy="841248"/>
          </a:xfrm>
          <a:prstGeom prst="rect">
            <a:avLst/>
          </a:prstGeom>
          <a:solidFill>
            <a:srgbClr val="F4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2221991"/>
            <a:ext cx="2240280" cy="56692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400"/>
              </a:spcAft>
              <a:defRPr sz="1700" b="1">
                <a:solidFill>
                  <a:srgbClr val="35796D"/>
                </a:solidFill>
                <a:latin typeface="Arial"/>
              </a:defRPr>
            </a:pPr>
            <a:r>
              <a:t>WHAT WORKED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80944" y="2194560"/>
            <a:ext cx="8366760" cy="6858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400"/>
              </a:spcAft>
              <a:defRPr sz="1700" b="0">
                <a:solidFill>
                  <a:srgbClr val="251F21"/>
                </a:solidFill>
                <a:latin typeface="Arial"/>
              </a:defRPr>
            </a:pPr>
            <a:r>
              <a:t>Basic linear attention was much faster on long synthetic inputs.</a:t>
            </a:r>
          </a:p>
          <a:p>
            <a:pPr>
              <a:spcAft>
                <a:spcPts val="400"/>
              </a:spcAft>
              <a:defRPr sz="1700" b="0">
                <a:solidFill>
                  <a:srgbClr val="251F21"/>
                </a:solidFill>
                <a:latin typeface="Arial"/>
              </a:defRPr>
            </a:pPr>
            <a:r>
              <a:t>At 65,536 tokens: 15.1 ms vs 3,446 ms for exact SDPA (fp32).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044952"/>
            <a:ext cx="11064240" cy="841248"/>
          </a:xfrm>
          <a:prstGeom prst="rect">
            <a:avLst/>
          </a:prstGeom>
          <a:solidFill>
            <a:srgbClr val="F4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3163824"/>
            <a:ext cx="2240280" cy="56692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400"/>
              </a:spcAft>
              <a:defRPr sz="1700" b="1">
                <a:solidFill>
                  <a:srgbClr val="35796D"/>
                </a:solidFill>
                <a:latin typeface="Arial"/>
              </a:defRPr>
            </a:pPr>
            <a:r>
              <a:t>WHAT FAILED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80944" y="3136392"/>
            <a:ext cx="8366760" cy="6858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400"/>
              </a:spcAft>
              <a:defRPr sz="1700" b="0">
                <a:solidFill>
                  <a:srgbClr val="251F21"/>
                </a:solidFill>
                <a:latin typeface="Arial"/>
              </a:defRPr>
            </a:pPr>
            <a:r>
              <a:t>Precise lookup: linear found 0/300 matches at 4,096 tokens (fp32, beta=64).</a:t>
            </a:r>
          </a:p>
          <a:p>
            <a:pPr>
              <a:spcAft>
                <a:spcPts val="400"/>
              </a:spcAft>
              <a:defRPr sz="1700" b="0">
                <a:solidFill>
                  <a:srgbClr val="251F21"/>
                </a:solidFill>
                <a:latin typeface="Arial"/>
              </a:defRPr>
            </a:pPr>
            <a:r>
              <a:t>Qwen router: slower at every tested length, with no joint speed-and-quality win.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86783"/>
            <a:ext cx="11064240" cy="841248"/>
          </a:xfrm>
          <a:prstGeom prst="rect">
            <a:avLst/>
          </a:prstGeom>
          <a:solidFill>
            <a:srgbClr val="F4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4105655"/>
            <a:ext cx="2240280" cy="56692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400"/>
              </a:spcAft>
              <a:defRPr sz="1700" b="1">
                <a:solidFill>
                  <a:srgbClr val="35796D"/>
                </a:solidFill>
                <a:latin typeface="Arial"/>
              </a:defRPr>
            </a:pPr>
            <a:r>
              <a:t>MEASURED 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80944" y="4078223"/>
            <a:ext cx="8366760" cy="6858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400"/>
              </a:spcAft>
              <a:defRPr sz="1700" b="0">
                <a:solidFill>
                  <a:srgbClr val="251F21"/>
                </a:solidFill>
                <a:latin typeface="Arial"/>
              </a:defRPr>
            </a:pPr>
            <a:r>
              <a:t>One-shot router median speedup: 0.486x at 8k, 1.725x at 32k, 3.558x at 65,536.</a:t>
            </a:r>
          </a:p>
          <a:p>
            <a:pPr>
              <a:spcAft>
                <a:spcPts val="400"/>
              </a:spcAft>
              <a:defRPr sz="1700" b="0">
                <a:solidFill>
                  <a:srgbClr val="251F21"/>
                </a:solidFill>
                <a:latin typeface="Arial"/>
              </a:defRPr>
            </a:pPr>
            <a:r>
              <a:t>This is across synthetic test cells, not a universal cutoff or a Qwen forecast.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928616"/>
            <a:ext cx="11064240" cy="841248"/>
          </a:xfrm>
          <a:prstGeom prst="rect">
            <a:avLst/>
          </a:prstGeom>
          <a:solidFill>
            <a:srgbClr val="F4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5047488"/>
            <a:ext cx="2240280" cy="56692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400"/>
              </a:spcAft>
              <a:defRPr sz="1700" b="1">
                <a:solidFill>
                  <a:srgbClr val="35796D"/>
                </a:solidFill>
                <a:latin typeface="Arial"/>
              </a:defRPr>
            </a:pPr>
            <a:r>
              <a:t>SAFETY LIMIT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80944" y="5020055"/>
            <a:ext cx="8366760" cy="6858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400"/>
              </a:spcAft>
              <a:defRPr sz="1700" b="0">
                <a:solidFill>
                  <a:srgbClr val="251F21"/>
                </a:solidFill>
                <a:latin typeface="Arial"/>
              </a:defRPr>
            </a:pPr>
            <a:r>
              <a:t>A small sampled average error missed rare bad queries.</a:t>
            </a:r>
          </a:p>
          <a:p>
            <a:pPr>
              <a:spcAft>
                <a:spcPts val="400"/>
              </a:spcAft>
              <a:defRPr sz="1700" b="0">
                <a:solidFill>
                  <a:srgbClr val="251F21"/>
                </a:solidFill>
                <a:latin typeface="Arial"/>
              </a:defRPr>
            </a:pPr>
            <a:r>
              <a:t>Reusing ranks under unit-scale drift failed in all 1,346 tested reused-linear heads.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989320"/>
            <a:ext cx="109728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400"/>
              </a:spcAft>
              <a:defRPr sz="2100" b="1">
                <a:solidFill>
                  <a:srgbClr val="35796D"/>
                </a:solidFill>
                <a:latin typeface="Arial"/>
              </a:defRPr>
            </a:pPr>
            <a:r>
              <a:t>Conclusion: useful benchmark boundary, not a safe Qwen accelerator.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6419088"/>
            <a:ext cx="11247120" cy="10972"/>
          </a:xfrm>
          <a:prstGeom prst="rect">
            <a:avLst/>
          </a:prstGeom>
          <a:solidFill>
            <a:srgbClr val="EAE9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510528"/>
            <a:ext cx="10789920" cy="2103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585254"/>
                </a:solidFill>
                <a:latin typeface="Arial"/>
              </a:defRPr>
            </a:pPr>
            <a:r>
              <a:t>CSV sources: efficiency; retrieval; router_detailed/scaling, scaling_heads; router_detailed_qwen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492240"/>
            <a:ext cx="457200" cy="2286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585254"/>
                </a:solidFill>
                <a:latin typeface="Arial"/>
              </a:defRPr>
            </a:pPr>
            <a: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005840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1000" b="1">
                <a:solidFill>
                  <a:srgbClr val="35796D"/>
                </a:solidFill>
                <a:latin typeface="Arial"/>
              </a:defRPr>
            </a:pPr>
            <a:r>
              <a:t>LINEAR ATTENTION / EXPERIMENT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47120" cy="6949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3000" b="0">
                <a:solidFill>
                  <a:srgbClr val="251F21"/>
                </a:solidFill>
                <a:latin typeface="Georgia"/>
              </a:defRPr>
            </a:pPr>
            <a:r>
              <a:t>The question is cost AND preserved behavior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98448"/>
            <a:ext cx="11155680" cy="502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585254"/>
                </a:solidFill>
                <a:latin typeface="Arial"/>
              </a:defRPr>
            </a:pPr>
            <a:r>
              <a:t>Can a router choose the cheapest acceptable feature count per input/head?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19088"/>
            <a:ext cx="11247120" cy="10972"/>
          </a:xfrm>
          <a:prstGeom prst="rect">
            <a:avLst/>
          </a:prstGeom>
          <a:solidFill>
            <a:srgbClr val="EAE9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0789920" cy="2103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585254"/>
                </a:solidFill>
                <a:latin typeface="Arial"/>
              </a:defRPr>
            </a:pPr>
            <a:r>
              <a:t>Source: lab/attention.py; lab/adaptive.py; run_router_detailed.py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45720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585254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920240"/>
            <a:ext cx="5394960" cy="3063240"/>
          </a:xfrm>
          <a:prstGeom prst="rect">
            <a:avLst/>
          </a:prstGeom>
          <a:solidFill>
            <a:srgbClr val="F4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084832"/>
            <a:ext cx="4992624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35796D"/>
                </a:solidFill>
                <a:latin typeface="Arial"/>
              </a:defRPr>
            </a:pPr>
            <a:r>
              <a:t>Exact softmax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706624"/>
            <a:ext cx="4992624" cy="21488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251F21"/>
                </a:solidFill>
                <a:latin typeface="Arial"/>
              </a:defRPr>
            </a:pPr>
            <a:r>
              <a:t>Each query compares with all keys.</a:t>
            </a:r>
          </a:p>
          <a:p>
            <a:pPr>
              <a:spcAft>
                <a:spcPts val="1000"/>
              </a:spcAft>
              <a:defRPr sz="1900" b="0">
                <a:solidFill>
                  <a:srgbClr val="251F21"/>
                </a:solidFill>
                <a:latin typeface="Arial"/>
              </a:defRPr>
            </a:pPr>
            <a:r>
              <a:t>All-pairs work grows roughly as N².</a:t>
            </a:r>
          </a:p>
          <a:p>
            <a:pPr>
              <a:spcAft>
                <a:spcPts val="1000"/>
              </a:spcAft>
              <a:defRPr sz="1900" b="0">
                <a:solidFill>
                  <a:srgbClr val="251F21"/>
                </a:solidFill>
                <a:latin typeface="Arial"/>
              </a:defRPr>
            </a:pPr>
            <a:r>
              <a:t>Optimized SDPA avoids our dense score matrix.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920240"/>
            <a:ext cx="5394960" cy="3063240"/>
          </a:xfrm>
          <a:prstGeom prst="rect">
            <a:avLst/>
          </a:prstGeom>
          <a:solidFill>
            <a:srgbClr val="F4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9088" y="2084832"/>
            <a:ext cx="4992624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35796D"/>
                </a:solidFill>
                <a:latin typeface="Arial"/>
              </a:defRPr>
            </a:pPr>
            <a:r>
              <a:t>Kernelized linear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9088" y="2706624"/>
            <a:ext cx="4992624" cy="21488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251F21"/>
                </a:solidFill>
                <a:latin typeface="Arial"/>
              </a:defRPr>
            </a:pPr>
            <a:r>
              <a:t>Compress keys and values into a summary.</a:t>
            </a:r>
          </a:p>
          <a:p>
            <a:pPr>
              <a:spcAft>
                <a:spcPts val="1000"/>
              </a:spcAft>
              <a:defRPr sz="1900" b="0">
                <a:solidFill>
                  <a:srgbClr val="251F21"/>
                </a:solidFill>
                <a:latin typeface="Arial"/>
              </a:defRPr>
            </a:pPr>
            <a:r>
              <a:t>At fixed feature width, work grows roughly as N.</a:t>
            </a:r>
          </a:p>
          <a:p>
            <a:pPr>
              <a:spcAft>
                <a:spcPts val="1000"/>
              </a:spcAft>
              <a:defRPr sz="1900" b="0">
                <a:solidFill>
                  <a:srgbClr val="251F21"/>
                </a:solidFill>
                <a:latin typeface="Arial"/>
              </a:defRPr>
            </a:pPr>
            <a:r>
              <a:t>Compression can blur a precise lookup.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5394960"/>
            <a:ext cx="1097280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35796D"/>
                </a:solidFill>
                <a:latin typeface="Arial"/>
              </a:defRPr>
            </a:pPr>
            <a:r>
              <a:t>N = sequence length. Faster arithmetic is not enough if the returned information changes.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005840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1000" b="1">
                <a:solidFill>
                  <a:srgbClr val="35796D"/>
                </a:solidFill>
                <a:latin typeface="Arial"/>
              </a:defRPr>
            </a:pPr>
            <a:r>
              <a:t>LINEAR ATTENTION / EXPERIMENT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47120" cy="6949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3000" b="0">
                <a:solidFill>
                  <a:srgbClr val="251F21"/>
                </a:solidFill>
                <a:latin typeface="Georgia"/>
              </a:defRPr>
            </a:pPr>
            <a:r>
              <a:t>Four connected tests, one router decision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98448"/>
            <a:ext cx="11155680" cy="502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585254"/>
                </a:solidFill>
                <a:latin typeface="Arial"/>
              </a:defRPr>
            </a:pPr>
            <a:r>
              <a:t>A head is one parallel attention lookup. Rank is the number of random features.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19088"/>
            <a:ext cx="11247120" cy="10972"/>
          </a:xfrm>
          <a:prstGeom prst="rect">
            <a:avLst/>
          </a:prstGeom>
          <a:solidFill>
            <a:srgbClr val="EAE9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0789920" cy="2103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585254"/>
                </a:solidFill>
                <a:latin typeface="Arial"/>
              </a:defRPr>
            </a:pPr>
            <a:r>
              <a:t>Source: run_efficiency.py; run_retrieval.py; run_qwen.py; run_adaptive.py; lab/router_detailed.py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45720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585254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28800"/>
            <a:ext cx="2743200" cy="1874519"/>
          </a:xfrm>
          <a:prstGeom prst="rect">
            <a:avLst/>
          </a:prstGeom>
          <a:solidFill>
            <a:srgbClr val="F4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993392"/>
            <a:ext cx="2340864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35796D"/>
                </a:solidFill>
                <a:latin typeface="Arial"/>
              </a:defRPr>
            </a:pPr>
            <a:r>
              <a:t>1 / Harness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615184"/>
            <a:ext cx="2340864" cy="960119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251F21"/>
                </a:solidFill>
                <a:latin typeface="Arial"/>
              </a:defRPr>
            </a:pPr>
            <a:r>
              <a:t>GPU latency, allocated memory, finiteness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56432" y="1828800"/>
            <a:ext cx="2743200" cy="1874519"/>
          </a:xfrm>
          <a:prstGeom prst="rect">
            <a:avLst/>
          </a:prstGeom>
          <a:solidFill>
            <a:srgbClr val="F4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0" y="1993392"/>
            <a:ext cx="2340864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35796D"/>
                </a:solidFill>
                <a:latin typeface="Arial"/>
              </a:defRPr>
            </a:pPr>
            <a:r>
              <a:t>2 / Retrieval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615184"/>
            <a:ext cx="2340864" cy="960119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251F21"/>
                </a:solidFill>
                <a:latin typeface="Arial"/>
              </a:defRPr>
            </a:pPr>
            <a:r>
              <a:t>One matching key among many distractors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64224" y="1828800"/>
            <a:ext cx="2743200" cy="1874519"/>
          </a:xfrm>
          <a:prstGeom prst="rect">
            <a:avLst/>
          </a:prstGeom>
          <a:solidFill>
            <a:srgbClr val="F4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65392" y="1993392"/>
            <a:ext cx="2340864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35796D"/>
                </a:solidFill>
                <a:latin typeface="Arial"/>
              </a:defRPr>
            </a:pPr>
            <a:r>
              <a:t>3 / Qwen swap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5392" y="2615184"/>
            <a:ext cx="2340864" cy="960119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251F21"/>
                </a:solidFill>
                <a:latin typeface="Arial"/>
              </a:defRPr>
            </a:pPr>
            <a:r>
              <a:t>Pretrained weights, no fine-tuning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72016" y="1828800"/>
            <a:ext cx="2743200" cy="1874519"/>
          </a:xfrm>
          <a:prstGeom prst="rect">
            <a:avLst/>
          </a:prstGeom>
          <a:solidFill>
            <a:srgbClr val="F4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73184" y="1993392"/>
            <a:ext cx="2340864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35796D"/>
                </a:solidFill>
                <a:latin typeface="Arial"/>
              </a:defRPr>
            </a:pPr>
            <a:r>
              <a:t>4 / Router audit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73184" y="2615184"/>
            <a:ext cx="2340864" cy="960119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251F21"/>
                </a:solidFill>
                <a:latin typeface="Arial"/>
              </a:defRPr>
            </a:pPr>
            <a:r>
              <a:t>Probe reliability, tails, drift and crossover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4114800"/>
            <a:ext cx="10972800" cy="6858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2300" b="1">
                <a:solidFill>
                  <a:srgbClr val="35796D"/>
                </a:solidFill>
                <a:latin typeface="Arial"/>
              </a:defRPr>
            </a:pPr>
            <a:r>
              <a:t>16 exact probe queries → try 64 / 256 / 1024 features → choose first passing rank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4937760"/>
            <a:ext cx="10972800" cy="1051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2100" b="0">
                <a:solidFill>
                  <a:srgbClr val="251F21"/>
                </a:solidFill>
                <a:latin typeface="Arial"/>
              </a:defRPr>
            </a:pPr>
            <a:r>
              <a:t>Default gate: mean relative output-vector error ≤ 0.1. If none passes, exact fallback.</a:t>
            </a:r>
          </a:p>
          <a:p>
            <a:pPr>
              <a:spcAft>
                <a:spcPts val="1000"/>
              </a:spcAft>
              <a:defRPr sz="2100" b="0">
                <a:solidFill>
                  <a:srgbClr val="251F21"/>
                </a:solidFill>
                <a:latin typeface="Arial"/>
              </a:defRPr>
            </a:pPr>
            <a:r>
              <a:t>The forced-rank variant uses 1024 even when the gate fails. It is not a safe fallback.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005840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1000" b="1">
                <a:solidFill>
                  <a:srgbClr val="35796D"/>
                </a:solidFill>
                <a:latin typeface="Arial"/>
              </a:defRPr>
            </a:pPr>
            <a:r>
              <a:t>LINEAR ATTENTION / EXPERIMENT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47120" cy="6949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3000" b="0">
                <a:solidFill>
                  <a:srgbClr val="251F21"/>
                </a:solidFill>
                <a:latin typeface="Georgia"/>
              </a:defRPr>
            </a:pPr>
            <a:r>
              <a:t>Run design keeps speed and quality separate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98448"/>
            <a:ext cx="11155680" cy="502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585254"/>
                </a:solidFill>
                <a:latin typeface="Arial"/>
              </a:defRPr>
            </a:pPr>
            <a:r>
              <a:t>Original Colab measurements and detailed follow-up are distinct cohorts.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19088"/>
            <a:ext cx="11247120" cy="10972"/>
          </a:xfrm>
          <a:prstGeom prst="rect">
            <a:avLst/>
          </a:prstGeom>
          <a:solidFill>
            <a:srgbClr val="EAE9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0789920" cy="2103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585254"/>
                </a:solidFill>
                <a:latin typeface="Arial"/>
              </a:defRPr>
            </a:pPr>
            <a:r>
              <a:t>Source: results/run_config_*.json; results/router_detailed*/manifest.json; qwen_data_manifest.json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45720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585254"/>
                </a:solidFill>
                <a:latin typeface="Arial"/>
              </a:defRPr>
            </a:pPr>
            <a:r>
              <a:t>04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38528"/>
          <a:ext cx="1106424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579120"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Original cohort</a:t>
                      </a:r>
                    </a:p>
                  </a:txBody>
                  <a:tcPr marL="109728" marR="109728" marT="91440" marB="91440">
                    <a:solidFill>
                      <a:srgbClr val="35796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Detailed follow-up</a:t>
                      </a:r>
                    </a:p>
                  </a:txBody>
                  <a:tcPr marL="109728" marR="109728" marT="91440" marB="91440">
                    <a:solidFill>
                      <a:srgbClr val="35796D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51F21"/>
                          </a:solidFill>
                          <a:latin typeface="Arial"/>
                        </a:defRPr>
                      </a:pPr>
                      <a:r>
                        <a:t>T4; torch 2.11.0+cu130 / CUDA 13.0</a:t>
                      </a:r>
                    </a:p>
                  </a:txBody>
                  <a:tcPr marL="109728" marR="109728" marT="91440" marB="91440">
                    <a:solidFill>
                      <a:srgbClr val="F4EFE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51F21"/>
                          </a:solidFill>
                          <a:latin typeface="Arial"/>
                        </a:defRPr>
                      </a:pPr>
                      <a:r>
                        <a:t>T4; torch 2.11.0+cu128 / CUDA 12.8</a:t>
                      </a:r>
                    </a:p>
                  </a:txBody>
                  <a:tcPr marL="109728" marR="109728" marT="91440" marB="91440">
                    <a:solidFill>
                      <a:srgbClr val="F4EFEC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51F21"/>
                          </a:solidFill>
                          <a:latin typeface="Arial"/>
                        </a:defRPr>
                      </a:pPr>
                      <a:r>
                        <a:t>Basic: N=512..65,536; fp16/fp32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51F21"/>
                          </a:solidFill>
                          <a:latin typeface="Arial"/>
                        </a:defRPr>
                      </a:pPr>
                      <a:r>
                        <a:t>18 synthetic regimes; 3 sensitivity seeds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51F21"/>
                          </a:solidFill>
                          <a:latin typeface="Arial"/>
                        </a:defRPr>
                      </a:pPr>
                      <a:r>
                        <a:t>Retrieval: 300 seeded trials per cell</a:t>
                      </a:r>
                    </a:p>
                  </a:txBody>
                  <a:tcPr marL="109728" marR="109728" marT="91440" marB="91440">
                    <a:solidFill>
                      <a:srgbClr val="F4EFE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51F21"/>
                          </a:solidFill>
                          <a:latin typeface="Arial"/>
                        </a:defRPr>
                      </a:pPr>
                      <a:r>
                        <a:t>9 tolerances; 6 probe counts; ranks 64/256/1024</a:t>
                      </a:r>
                    </a:p>
                  </a:txBody>
                  <a:tcPr marL="109728" marR="109728" marT="91440" marB="91440">
                    <a:solidFill>
                      <a:srgbClr val="F4EFEC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51F21"/>
                          </a:solidFill>
                          <a:latin typeface="Arial"/>
                        </a:defRPr>
                      </a:pPr>
                      <a:r>
                        <a:t>Qwen swap: 16 windows, context 2048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51F21"/>
                          </a:solidFill>
                          <a:latin typeface="Arial"/>
                        </a:defRPr>
                      </a:pPr>
                      <a:r>
                        <a:t>Matched Qwen: 16 held-out windows, 32,752 tokens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51F21"/>
                          </a:solidFill>
                          <a:latin typeface="Arial"/>
                        </a:defRPr>
                      </a:pPr>
                      <a:r>
                        <a:t>Adaptive: separate 8-window Qwen test</a:t>
                      </a:r>
                    </a:p>
                  </a:txBody>
                  <a:tcPr marL="109728" marR="109728" marT="91440" marB="91440">
                    <a:solidFill>
                      <a:srgbClr val="F4EFE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51F21"/>
                          </a:solidFill>
                          <a:latin typeface="Arial"/>
                        </a:defRPr>
                      </a:pPr>
                      <a:r>
                        <a:t>Quality at 2048; model timing at 1024..8192</a:t>
                      </a:r>
                    </a:p>
                  </a:txBody>
                  <a:tcPr marL="109728" marR="109728" marT="91440" marB="91440">
                    <a:solidFill>
                      <a:srgbClr val="F4EF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94360" y="5605272"/>
            <a:ext cx="10972800" cy="5943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35796D"/>
                </a:solidFill>
                <a:latin typeface="Arial"/>
              </a:defRPr>
            </a:pPr>
            <a:r>
              <a:t>CUDA events + measured allocation peaks + saved failures. Prefill timing excludes the vocabulary head.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005840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1000" b="1">
                <a:solidFill>
                  <a:srgbClr val="35796D"/>
                </a:solidFill>
                <a:latin typeface="Arial"/>
              </a:defRPr>
            </a:pPr>
            <a:r>
              <a:t>LINEAR ATTENTION / EXPERIMENT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47120" cy="6949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3000" b="0">
                <a:solidFill>
                  <a:srgbClr val="251F21"/>
                </a:solidFill>
                <a:latin typeface="Georgia"/>
              </a:defRPr>
            </a:pPr>
            <a:r>
              <a:t>Basic linear attention is fast at long lengths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98448"/>
            <a:ext cx="11155680" cy="502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585254"/>
                </a:solidFill>
                <a:latin typeface="Arial"/>
              </a:defRPr>
            </a:pPr>
            <a:r>
              <a:t>Attention-only, noncausal; batch 1, 8 heads, dimension 64. Log latency axes.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19088"/>
            <a:ext cx="11247120" cy="10972"/>
          </a:xfrm>
          <a:prstGeom prst="rect">
            <a:avLst/>
          </a:prstGeom>
          <a:solidFill>
            <a:srgbClr val="EAE9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0789920" cy="2103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585254"/>
                </a:solidFill>
                <a:latin typeface="Arial"/>
              </a:defRPr>
            </a:pPr>
            <a:r>
              <a:t>Source: results/efficiency.csv; figures/latency.png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45720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585254"/>
                </a:solidFill>
                <a:latin typeface="Arial"/>
              </a:defRPr>
            </a:pPr>
            <a:r>
              <a:t>05</a:t>
            </a:r>
          </a:p>
        </p:txBody>
      </p:sp>
      <p:pic>
        <p:nvPicPr>
          <p:cNvPr id="8" name="Picture 7" descr="laten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1828800"/>
            <a:ext cx="10387584" cy="38953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94360" y="5806440"/>
            <a:ext cx="10972800" cy="51206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35796D"/>
                </a:solidFill>
                <a:latin typeface="Arial"/>
              </a:defRPr>
            </a:pPr>
            <a:r>
              <a:t>At 65,536: fp32 SDPA 3,446 ms vs linear 15.1 ms. This is not a quality claim.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005840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1000" b="1">
                <a:solidFill>
                  <a:srgbClr val="35796D"/>
                </a:solidFill>
                <a:latin typeface="Arial"/>
              </a:defRPr>
            </a:pPr>
            <a:r>
              <a:t>LINEAR ATTENTION / EXPERIMENT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47120" cy="6949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3000" b="0">
                <a:solidFill>
                  <a:srgbClr val="251F21"/>
                </a:solidFill>
                <a:latin typeface="Georgia"/>
              </a:defRPr>
            </a:pPr>
            <a:r>
              <a:t>Memory and numerical stability qualify the speed claim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98448"/>
            <a:ext cx="11155680" cy="502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585254"/>
                </a:solidFill>
                <a:latin typeface="Arial"/>
              </a:defRPr>
            </a:pPr>
            <a:r>
              <a:t>Memory chart: extra PyTorch allocated memory above inputs; code units are MiB.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19088"/>
            <a:ext cx="11247120" cy="10972"/>
          </a:xfrm>
          <a:prstGeom prst="rect">
            <a:avLst/>
          </a:prstGeom>
          <a:solidFill>
            <a:srgbClr val="EAE9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0789920" cy="2103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585254"/>
                </a:solidFill>
                <a:latin typeface="Arial"/>
              </a:defRPr>
            </a:pPr>
            <a:r>
              <a:t>Source: results/efficiency.csv; figures/memory.png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45720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585254"/>
                </a:solidFill>
                <a:latin typeface="Arial"/>
              </a:defRPr>
            </a:pPr>
            <a:r>
              <a:t>06</a:t>
            </a:r>
          </a:p>
        </p:txBody>
      </p:sp>
      <p:pic>
        <p:nvPicPr>
          <p:cNvPr id="8" name="Picture 7" descr="mem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1828800"/>
            <a:ext cx="10387584" cy="38953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94360" y="5806440"/>
            <a:ext cx="10972800" cy="51206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35796D"/>
                </a:solidFill>
                <a:latin typeface="Arial"/>
              </a:defRPr>
            </a:pPr>
            <a:r>
              <a:t>SDPA uses less extra allocation than basic linear here. Pure fp16 linear fails at 32k+.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005840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1000" b="1">
                <a:solidFill>
                  <a:srgbClr val="35796D"/>
                </a:solidFill>
                <a:latin typeface="Arial"/>
              </a:defRPr>
            </a:pPr>
            <a:r>
              <a:t>LINEAR ATTENTION / EXPERIMENT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47120" cy="6949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3000" b="0">
                <a:solidFill>
                  <a:srgbClr val="251F21"/>
                </a:solidFill>
                <a:latin typeface="Georgia"/>
              </a:defRPr>
            </a:pPr>
            <a:r>
              <a:t>The lookup boundary: fast can mean unable to select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98448"/>
            <a:ext cx="11155680" cy="502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585254"/>
                </a:solidFill>
                <a:latin typeface="Arial"/>
              </a:defRPr>
            </a:pPr>
            <a:r>
              <a:t>Original chart excerpt: beta=64, fp32/fp16. 300 identical seeded trials per cell.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19088"/>
            <a:ext cx="11247120" cy="10972"/>
          </a:xfrm>
          <a:prstGeom prst="rect">
            <a:avLst/>
          </a:prstGeom>
          <a:solidFill>
            <a:srgbClr val="EAE9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0789920" cy="2103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585254"/>
                </a:solidFill>
                <a:latin typeface="Arial"/>
              </a:defRPr>
            </a:pPr>
            <a:r>
              <a:t>Source: results/retrieval.csv; figures/retrieval.png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45720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585254"/>
                </a:solidFill>
                <a:latin typeface="Arial"/>
              </a:defRPr>
            </a:pPr>
            <a:r>
              <a:t>07</a:t>
            </a:r>
          </a:p>
        </p:txBody>
      </p:sp>
      <p:pic>
        <p:nvPicPr>
          <p:cNvPr id="8" name="Picture 7" descr="retrieval_beta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99" y="1901951"/>
            <a:ext cx="11247120" cy="37490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94360" y="5806440"/>
            <a:ext cx="10972800" cy="51206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35796D"/>
                </a:solidFill>
                <a:latin typeface="Arial"/>
              </a:defRPr>
            </a:pPr>
            <a:r>
              <a:t>fp32, beta=64, N=4096: SDPA 300/300; local-window 45/300; linear 0/300.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005840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1000" b="1">
                <a:solidFill>
                  <a:srgbClr val="35796D"/>
                </a:solidFill>
                <a:latin typeface="Arial"/>
              </a:defRPr>
            </a:pPr>
            <a:r>
              <a:t>LINEAR ATTENTION / EXPERIMENT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47120" cy="6949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3000" b="0">
                <a:solidFill>
                  <a:srgbClr val="251F21"/>
                </a:solidFill>
                <a:latin typeface="Georgia"/>
              </a:defRPr>
            </a:pPr>
            <a:r>
              <a:t>Untrained Qwen swaps damage language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98448"/>
            <a:ext cx="11155680" cy="502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585254"/>
                </a:solidFill>
                <a:latin typeface="Arial"/>
              </a:defRPr>
            </a:pPr>
            <a:r>
              <a:t>Perplexity = next-token surprise; lower is better on the same test windows.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19088"/>
            <a:ext cx="11247120" cy="10972"/>
          </a:xfrm>
          <a:prstGeom prst="rect">
            <a:avLst/>
          </a:prstGeom>
          <a:solidFill>
            <a:srgbClr val="EAE9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0789920" cy="2103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585254"/>
                </a:solidFill>
                <a:latin typeface="Arial"/>
              </a:defRPr>
            </a:pPr>
            <a:r>
              <a:t>Source: results/qwen_quality.csv; results/qwen_prefill.csv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45720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585254"/>
                </a:solidFill>
                <a:latin typeface="Arial"/>
              </a:defRPr>
            </a:pPr>
            <a:r>
              <a:t>08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2011680"/>
          <a:ext cx="1097280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530352">
                <a:tc>
                  <a:txBody>
                    <a:bodyPr/>
                    <a:lstStyle/>
                    <a:p>
                      <a:pPr>
                        <a:defRPr sz="2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Original 16-window variant</a:t>
                      </a:r>
                    </a:p>
                  </a:txBody>
                  <a:tcPr marL="109728" marR="109728" marT="91440" marB="91440">
                    <a:solidFill>
                      <a:srgbClr val="35796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Perplexity at context 2048</a:t>
                      </a:r>
                    </a:p>
                  </a:txBody>
                  <a:tcPr marL="109728" marR="109728" marT="91440" marB="91440">
                    <a:solidFill>
                      <a:srgbClr val="35796D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>
                        <a:defRPr sz="2100" b="0">
                          <a:solidFill>
                            <a:srgbClr val="251F21"/>
                          </a:solidFill>
                          <a:latin typeface="Arial"/>
                        </a:defRPr>
                      </a:pPr>
                      <a:r>
                        <a:t>SDPA baseline</a:t>
                      </a:r>
                    </a:p>
                  </a:txBody>
                  <a:tcPr marL="109728" marR="109728" marT="91440" marB="91440">
                    <a:solidFill>
                      <a:srgbClr val="F4EFE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100" b="0">
                          <a:solidFill>
                            <a:srgbClr val="251F21"/>
                          </a:solidFill>
                          <a:latin typeface="Arial"/>
                        </a:defRPr>
                      </a:pPr>
                      <a:r>
                        <a:t>12.64966</a:t>
                      </a:r>
                    </a:p>
                  </a:txBody>
                  <a:tcPr marL="109728" marR="109728" marT="91440" marB="91440">
                    <a:solidFill>
                      <a:srgbClr val="F4EFEC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>
                        <a:defRPr sz="2100" b="0">
                          <a:solidFill>
                            <a:srgbClr val="251F21"/>
                          </a:solidFill>
                          <a:latin typeface="Arial"/>
                        </a:defRPr>
                      </a:pPr>
                      <a:r>
                        <a:t>Head-expanded SDPA (sdpa_mha)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100" b="0">
                          <a:solidFill>
                            <a:srgbClr val="251F21"/>
                          </a:solidFill>
                          <a:latin typeface="Arial"/>
                        </a:defRPr>
                      </a:pPr>
                      <a:r>
                        <a:t>12.64988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>
                        <a:defRPr sz="2100" b="0">
                          <a:solidFill>
                            <a:srgbClr val="251F21"/>
                          </a:solidFill>
                          <a:latin typeface="Arial"/>
                        </a:defRPr>
                      </a:pPr>
                      <a:r>
                        <a:t>Local-window swap</a:t>
                      </a:r>
                    </a:p>
                  </a:txBody>
                  <a:tcPr marL="109728" marR="109728" marT="91440" marB="91440">
                    <a:solidFill>
                      <a:srgbClr val="F4EFE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100" b="0">
                          <a:solidFill>
                            <a:srgbClr val="251F21"/>
                          </a:solidFill>
                          <a:latin typeface="Arial"/>
                        </a:defRPr>
                      </a:pPr>
                      <a:r>
                        <a:t>61.38022</a:t>
                      </a:r>
                    </a:p>
                  </a:txBody>
                  <a:tcPr marL="109728" marR="109728" marT="91440" marB="91440">
                    <a:solidFill>
                      <a:srgbClr val="F4EFEC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>
                        <a:defRPr sz="2100" b="0">
                          <a:solidFill>
                            <a:srgbClr val="251F21"/>
                          </a:solidFill>
                          <a:latin typeface="Arial"/>
                        </a:defRPr>
                      </a:pPr>
                      <a:r>
                        <a:t>Basic linear swap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100" b="0">
                          <a:solidFill>
                            <a:srgbClr val="251F21"/>
                          </a:solidFill>
                          <a:latin typeface="Arial"/>
                        </a:defRPr>
                      </a:pPr>
                      <a:r>
                        <a:t>4,532.95279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94360" y="5029200"/>
            <a:ext cx="10972800" cy="9144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2400" b="1">
                <a:solidFill>
                  <a:srgbClr val="35796D"/>
                </a:solidFill>
                <a:latin typeface="Arial"/>
              </a:defRPr>
            </a:pPr>
            <a:r>
              <a:t>No training or fine-tuning. This rejects an untrained swap here, not trained linear-attention models.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5897880"/>
            <a:ext cx="1097280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585254"/>
                </a:solidFill>
                <a:latin typeface="Arial"/>
              </a:defRPr>
            </a:pPr>
            <a:r>
              <a:t>The head-expanded exact path is the fair efficient baseline on this T4 setup; API path choice matters.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005840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1000" b="1">
                <a:solidFill>
                  <a:srgbClr val="35796D"/>
                </a:solidFill>
                <a:latin typeface="Arial"/>
              </a:defRPr>
            </a:pPr>
            <a:r>
              <a:t>LINEAR ATTENTION / EXPERIMENT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47120" cy="6949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3000" b="0">
                <a:solidFill>
                  <a:srgbClr val="251F21"/>
                </a:solidFill>
                <a:latin typeface="Georgia"/>
              </a:defRPr>
            </a:pPr>
            <a:r>
              <a:t>Original Qwen prefill needs a fair exact baseline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98448"/>
            <a:ext cx="11155680" cy="502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585254"/>
                </a:solidFill>
                <a:latin typeface="Arial"/>
              </a:defRPr>
            </a:pPr>
            <a:r>
              <a:t>Transformer body only; pretrained fp16 weights. Faster swaps are not quality-preserving.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19088"/>
            <a:ext cx="11247120" cy="10972"/>
          </a:xfrm>
          <a:prstGeom prst="rect">
            <a:avLst/>
          </a:prstGeom>
          <a:solidFill>
            <a:srgbClr val="EAE9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0789920" cy="2103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585254"/>
                </a:solidFill>
                <a:latin typeface="Arial"/>
              </a:defRPr>
            </a:pPr>
            <a:r>
              <a:t>Source: results/qwen_prefill.csv; figures/qwen_prefill.png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45720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585254"/>
                </a:solidFill>
                <a:latin typeface="Arial"/>
              </a:defRPr>
            </a:pPr>
            <a:r>
              <a:t>09</a:t>
            </a:r>
          </a:p>
        </p:txBody>
      </p:sp>
      <p:pic>
        <p:nvPicPr>
          <p:cNvPr id="8" name="Picture 7" descr="qwen_prefi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1828800"/>
            <a:ext cx="10387584" cy="38953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94360" y="5806440"/>
            <a:ext cx="10972800" cy="51206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35796D"/>
                </a:solidFill>
                <a:latin typeface="Arial"/>
              </a:defRPr>
            </a:pPr>
            <a:r>
              <a:t>Head-expanded SDPA changes the timing baseline. Read speed together with the quality table.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005840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1000" b="1">
                <a:solidFill>
                  <a:srgbClr val="35796D"/>
                </a:solidFill>
                <a:latin typeface="Arial"/>
              </a:defRPr>
            </a:pPr>
            <a:r>
              <a:t>LINEAR ATTENTION / EXPERIMENT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47120" cy="6949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3000" b="0">
                <a:solidFill>
                  <a:srgbClr val="251F21"/>
                </a:solidFill>
                <a:latin typeface="Georgia"/>
              </a:defRPr>
            </a:pPr>
            <a:r>
              <a:t>Initial adaptive results motivated the stricter follow-up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98448"/>
            <a:ext cx="11155680" cy="502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585254"/>
                </a:solidFill>
                <a:latin typeface="Arial"/>
              </a:defRPr>
            </a:pPr>
            <a:r>
              <a:t>Different heads can choose different ranks. That alone does not establish accuracy.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19088"/>
            <a:ext cx="11247120" cy="10972"/>
          </a:xfrm>
          <a:prstGeom prst="rect">
            <a:avLst/>
          </a:prstGeom>
          <a:solidFill>
            <a:srgbClr val="EAE9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0789920" cy="2103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585254"/>
                </a:solidFill>
                <a:latin typeface="Arial"/>
              </a:defRPr>
            </a:pPr>
            <a:r>
              <a:t>Source: results/adaptive_efficiency.csv; adaptive_retrieval.csv; adaptive_qwen_quality.csv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45720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585254"/>
                </a:solidFill>
                <a:latin typeface="Arial"/>
              </a:defRPr>
            </a:pPr>
            <a: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965960"/>
            <a:ext cx="5303520" cy="3108960"/>
          </a:xfrm>
          <a:prstGeom prst="rect">
            <a:avLst/>
          </a:prstGeom>
          <a:solidFill>
            <a:srgbClr val="F4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2130552"/>
            <a:ext cx="4901183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35796D"/>
                </a:solidFill>
                <a:latin typeface="Arial"/>
              </a:defRPr>
            </a:pPr>
            <a:r>
              <a:t>Mild synthetic inputs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2752344"/>
            <a:ext cx="4901183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251F21"/>
                </a:solidFill>
                <a:latin typeface="Arial"/>
              </a:defRPr>
            </a:pPr>
            <a:r>
              <a:t>fp32, N=65,536, small-scale:</a:t>
            </a:r>
          </a:p>
          <a:p>
            <a:pPr>
              <a:spcAft>
                <a:spcPts val="1000"/>
              </a:spcAft>
              <a:defRPr sz="1900" b="0">
                <a:solidFill>
                  <a:srgbClr val="251F21"/>
                </a:solidFill>
                <a:latin typeface="Arial"/>
              </a:defRPr>
            </a:pPr>
            <a:r>
              <a:t>rank 256 for all 8 heads</a:t>
            </a:r>
          </a:p>
          <a:p>
            <a:pPr>
              <a:spcAft>
                <a:spcPts val="1000"/>
              </a:spcAft>
              <a:defRPr sz="1900" b="0">
                <a:solidFill>
                  <a:srgbClr val="251F21"/>
                </a:solidFill>
                <a:latin typeface="Arial"/>
              </a:defRPr>
            </a:pPr>
            <a:r>
              <a:t>router 116.8 ms vs SDPA 3,546.0 ms</a:t>
            </a:r>
          </a:p>
          <a:p>
            <a:pPr>
              <a:spcAft>
                <a:spcPts val="1000"/>
              </a:spcAft>
              <a:defRPr sz="1900" b="0">
                <a:solidFill>
                  <a:srgbClr val="251F21"/>
                </a:solidFill>
                <a:latin typeface="Arial"/>
              </a:defRPr>
            </a:pPr>
            <a:r>
              <a:t>fixed rank 256: 69.9 ms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965960"/>
            <a:ext cx="5349240" cy="3108960"/>
          </a:xfrm>
          <a:prstGeom prst="rect">
            <a:avLst/>
          </a:prstGeom>
          <a:solidFill>
            <a:srgbClr val="F4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3368" y="2130552"/>
            <a:ext cx="4946903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35796D"/>
                </a:solidFill>
                <a:latin typeface="Arial"/>
              </a:defRPr>
            </a:pPr>
            <a:r>
              <a:t>Pretrained Qwen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3368" y="2752344"/>
            <a:ext cx="4946903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251F21"/>
                </a:solidFill>
                <a:latin typeface="Arial"/>
              </a:defRPr>
            </a:pPr>
            <a:r>
              <a:t>8-window test:</a:t>
            </a:r>
          </a:p>
          <a:p>
            <a:pPr>
              <a:spcAft>
                <a:spcPts val="1000"/>
              </a:spcAft>
              <a:defRPr sz="1900" b="0">
                <a:solidFill>
                  <a:srgbClr val="251F21"/>
                </a:solidFill>
                <a:latin typeface="Arial"/>
              </a:defRPr>
            </a:pPr>
            <a:r>
              <a:t>forced ranks nonfinite on all windows</a:t>
            </a:r>
          </a:p>
          <a:p>
            <a:pPr>
              <a:spcAft>
                <a:spcPts val="1000"/>
              </a:spcAft>
              <a:defRPr sz="1900" b="0">
                <a:solidFill>
                  <a:srgbClr val="251F21"/>
                </a:solidFill>
                <a:latin typeface="Arial"/>
              </a:defRPr>
            </a:pPr>
            <a:r>
              <a:t>exact fallback on 2667/2688 heads</a:t>
            </a:r>
          </a:p>
          <a:p>
            <a:pPr>
              <a:spcAft>
                <a:spcPts val="1000"/>
              </a:spcAft>
              <a:defRPr sz="1900" b="0">
                <a:solidFill>
                  <a:srgbClr val="251F21"/>
                </a:solidFill>
                <a:latin typeface="Arial"/>
              </a:defRPr>
            </a:pPr>
            <a:r>
              <a:t>PPL 11.59157 vs baseline 11.59154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5440680"/>
            <a:ext cx="10972800" cy="7315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2300" b="1">
                <a:solidFill>
                  <a:srgbClr val="35796D"/>
                </a:solidFill>
                <a:latin typeface="Arial"/>
              </a:defRPr>
            </a:pPr>
            <a:r>
              <a:t>Selection has a cost. Forced ranks can fail. Near-baseline quality can simply mean "choose exact."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005840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1000" b="1">
                <a:solidFill>
                  <a:srgbClr val="35796D"/>
                </a:solidFill>
                <a:latin typeface="Arial"/>
              </a:defRPr>
            </a:pPr>
            <a:r>
              <a:t>LINEAR ATTENTION / EXPERIMENT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47120" cy="6949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3000" b="0">
                <a:solidFill>
                  <a:srgbClr val="251F21"/>
                </a:solidFill>
                <a:latin typeface="Georgia"/>
              </a:defRPr>
            </a:pPr>
            <a:r>
              <a:t>Detailed Qwen: no measured acceleration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98448"/>
            <a:ext cx="11155680" cy="502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585254"/>
                </a:solidFill>
                <a:latin typeface="Arial"/>
              </a:defRPr>
            </a:pPr>
            <a:r>
              <a:t>Same 16 held-out windows for every method. Quality at 2048; speed at 1k..8k.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19088"/>
            <a:ext cx="11247120" cy="10972"/>
          </a:xfrm>
          <a:prstGeom prst="rect">
            <a:avLst/>
          </a:prstGeom>
          <a:solidFill>
            <a:srgbClr val="EAE9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0789920" cy="2103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585254"/>
                </a:solidFill>
                <a:latin typeface="Arial"/>
              </a:defRPr>
            </a:pPr>
            <a:r>
              <a:t>Source: results/router_detailed_qwen/qwen_quality.csv; qwen_prefill.csv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45720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585254"/>
                </a:solidFill>
                <a:latin typeface="Arial"/>
              </a:defRPr>
            </a:pPr>
            <a:r>
              <a:t>11</a:t>
            </a:r>
          </a:p>
        </p:txBody>
      </p:sp>
      <p:pic>
        <p:nvPicPr>
          <p:cNvPr id="8" name="Picture 7" descr="qwen_quality_laten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7171" y="1828800"/>
            <a:ext cx="9207176" cy="38953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94360" y="5806440"/>
            <a:ext cx="10972800" cy="51206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35796D"/>
                </a:solidFill>
                <a:latin typeface="Arial"/>
              </a:defRPr>
            </a:pPr>
            <a:r>
              <a:t>At .1: quality nearly holds, but every router is slower. At .4: quality worsens, still no speedup.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005840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1000" b="1">
                <a:solidFill>
                  <a:srgbClr val="35796D"/>
                </a:solidFill>
                <a:latin typeface="Arial"/>
              </a:defRPr>
            </a:pPr>
            <a:r>
              <a:t>LINEAR ATTENTION / EXPERIMENT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47120" cy="6949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3000" b="0">
                <a:solidFill>
                  <a:srgbClr val="251F21"/>
                </a:solidFill>
                <a:latin typeface="Georgia"/>
              </a:defRPr>
            </a:pPr>
            <a:r>
              <a:t>Good quality is mostly an exact-fallback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98448"/>
            <a:ext cx="11155680" cy="502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585254"/>
                </a:solidFill>
                <a:latin typeface="Arial"/>
              </a:defRPr>
            </a:pPr>
            <a:r>
              <a:t>Do not interpret unchanged perplexity as successful linear reuse.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19088"/>
            <a:ext cx="11247120" cy="10972"/>
          </a:xfrm>
          <a:prstGeom prst="rect">
            <a:avLst/>
          </a:prstGeom>
          <a:solidFill>
            <a:srgbClr val="EAE9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0789920" cy="2103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585254"/>
                </a:solidFill>
                <a:latin typeface="Arial"/>
              </a:defRPr>
            </a:pPr>
            <a:r>
              <a:t>Source: results/router_detailed_qwen/qwen_choices.csv; qwen_activation_heads.csv; qwen_prefill.csv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45720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585254"/>
                </a:solidFill>
                <a:latin typeface="Arial"/>
              </a:defRPr>
            </a:pPr>
            <a: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2011680"/>
            <a:ext cx="3429000" cy="2103120"/>
          </a:xfrm>
          <a:prstGeom prst="rect">
            <a:avLst/>
          </a:prstGeom>
          <a:solidFill>
            <a:srgbClr val="F4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2176272"/>
            <a:ext cx="3026664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35796D"/>
                </a:solidFill>
                <a:latin typeface="Arial"/>
              </a:defRPr>
            </a:pPr>
            <a:r>
              <a:t>0 / 1,344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2798064"/>
            <a:ext cx="3026664" cy="1188719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251F21"/>
                </a:solidFill>
                <a:latin typeface="Arial"/>
              </a:defRPr>
            </a:pPr>
            <a:r>
              <a:t>Cached .1 chose zero linear heads across the four timing inputs.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0" y="2011680"/>
            <a:ext cx="3429000" cy="2103120"/>
          </a:xfrm>
          <a:prstGeom prst="rect">
            <a:avLst/>
          </a:prstGeom>
          <a:solidFill>
            <a:srgbClr val="F4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0288" y="2176272"/>
            <a:ext cx="3026664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35796D"/>
                </a:solidFill>
                <a:latin typeface="Arial"/>
              </a:defRPr>
            </a:pPr>
            <a:r>
              <a:t>8 / 1,344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0288" y="2798064"/>
            <a:ext cx="3026664" cy="1188719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251F21"/>
                </a:solidFill>
                <a:latin typeface="Arial"/>
              </a:defRPr>
            </a:pPr>
            <a:r>
              <a:t>Original/one-shot .1 chose linear for only 0.60% of timing choices.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83879" y="2011680"/>
            <a:ext cx="3429000" cy="2103120"/>
          </a:xfrm>
          <a:prstGeom prst="rect">
            <a:avLst/>
          </a:prstGeom>
          <a:solidFill>
            <a:srgbClr val="F4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5048" y="2176272"/>
            <a:ext cx="3026664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35796D"/>
                </a:solidFill>
                <a:latin typeface="Arial"/>
              </a:defRPr>
            </a:pPr>
            <a:r>
              <a:t>0 / 280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5048" y="2798064"/>
            <a:ext cx="3026664" cy="1188719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251F21"/>
                </a:solidFill>
                <a:latin typeface="Arial"/>
              </a:defRPr>
            </a:pPr>
            <a:r>
              <a:t>Captured-activation cases accepted linear at .1 with 16 probes.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94360" y="4526280"/>
          <a:ext cx="11018520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3704"/>
                <a:gridCol w="2203704"/>
                <a:gridCol w="2203704"/>
                <a:gridCol w="2203704"/>
                <a:gridCol w="2203704"/>
              </a:tblGrid>
              <a:tr h="525780"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N=2048 prefill</a:t>
                      </a:r>
                    </a:p>
                  </a:txBody>
                  <a:tcPr marL="109728" marR="109728" marT="91440" marB="91440">
                    <a:solidFill>
                      <a:srgbClr val="35796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Baseline</a:t>
                      </a:r>
                    </a:p>
                  </a:txBody>
                  <a:tcPr marL="109728" marR="109728" marT="91440" marB="91440">
                    <a:solidFill>
                      <a:srgbClr val="35796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Original .1</a:t>
                      </a:r>
                    </a:p>
                  </a:txBody>
                  <a:tcPr marL="109728" marR="109728" marT="91440" marB="91440">
                    <a:solidFill>
                      <a:srgbClr val="35796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Probe-first .1</a:t>
                      </a:r>
                    </a:p>
                  </a:txBody>
                  <a:tcPr marL="109728" marR="109728" marT="91440" marB="91440">
                    <a:solidFill>
                      <a:srgbClr val="35796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Cached .1</a:t>
                      </a:r>
                    </a:p>
                  </a:txBody>
                  <a:tcPr marL="109728" marR="109728" marT="91440" marB="91440">
                    <a:solidFill>
                      <a:srgbClr val="35796D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251F21"/>
                          </a:solidFill>
                          <a:latin typeface="Arial"/>
                        </a:defRPr>
                      </a:pPr>
                      <a:r>
                        <a:t>Median latency</a:t>
                      </a:r>
                    </a:p>
                  </a:txBody>
                  <a:tcPr marL="109728" marR="109728" marT="91440" marB="91440">
                    <a:solidFill>
                      <a:srgbClr val="F4EFE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251F21"/>
                          </a:solidFill>
                          <a:latin typeface="Arial"/>
                        </a:defRPr>
                      </a:pPr>
                      <a:r>
                        <a:t>105.3 ms</a:t>
                      </a:r>
                    </a:p>
                  </a:txBody>
                  <a:tcPr marL="109728" marR="109728" marT="91440" marB="91440">
                    <a:solidFill>
                      <a:srgbClr val="F4EFE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251F21"/>
                          </a:solidFill>
                          <a:latin typeface="Arial"/>
                        </a:defRPr>
                      </a:pPr>
                      <a:r>
                        <a:t>1,106.0 ms</a:t>
                      </a:r>
                    </a:p>
                  </a:txBody>
                  <a:tcPr marL="109728" marR="109728" marT="91440" marB="91440">
                    <a:solidFill>
                      <a:srgbClr val="F4EFE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251F21"/>
                          </a:solidFill>
                          <a:latin typeface="Arial"/>
                        </a:defRPr>
                      </a:pPr>
                      <a:r>
                        <a:t>792.3 ms</a:t>
                      </a:r>
                    </a:p>
                  </a:txBody>
                  <a:tcPr marL="109728" marR="109728" marT="91440" marB="91440">
                    <a:solidFill>
                      <a:srgbClr val="F4EFE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251F21"/>
                          </a:solidFill>
                          <a:latin typeface="Arial"/>
                        </a:defRPr>
                      </a:pPr>
                      <a:r>
                        <a:t>143.4 ms</a:t>
                      </a:r>
                    </a:p>
                  </a:txBody>
                  <a:tcPr marL="109728" marR="109728" marT="91440" marB="91440">
                    <a:solidFill>
                      <a:srgbClr val="F4EFEC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594360" y="5852160"/>
            <a:ext cx="109728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585254"/>
                </a:solidFill>
                <a:latin typeface="Arial"/>
              </a:defRPr>
            </a:pPr>
            <a:r>
              <a:t>Counts are from timing/capture inputs, not the 16 quality windows. Cached .4: 64/1,344 linear choices.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005840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1000" b="1">
                <a:solidFill>
                  <a:srgbClr val="35796D"/>
                </a:solidFill>
                <a:latin typeface="Arial"/>
              </a:defRPr>
            </a:pPr>
            <a:r>
              <a:t>LINEAR ATTENTION / EXPERIMENT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47120" cy="6949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3000" b="0">
                <a:solidFill>
                  <a:srgbClr val="251F21"/>
                </a:solidFill>
                <a:latin typeface="Georgia"/>
              </a:defRPr>
            </a:pPr>
            <a:r>
              <a:t>Synthetic wins emerge only under favorable conditions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98448"/>
            <a:ext cx="11155680" cy="502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585254"/>
                </a:solidFill>
                <a:latin typeface="Arial"/>
              </a:defRPr>
            </a:pPr>
            <a:r>
              <a:t>Speedup &gt;1 is faster than matched SDPA. Both axes are logarithmic.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19088"/>
            <a:ext cx="11247120" cy="10972"/>
          </a:xfrm>
          <a:prstGeom prst="rect">
            <a:avLst/>
          </a:prstGeom>
          <a:solidFill>
            <a:srgbClr val="EAE9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0789920" cy="2103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585254"/>
                </a:solidFill>
                <a:latin typeface="Arial"/>
              </a:defRPr>
            </a:pPr>
            <a:r>
              <a:t>Source: results/router_detailed/scaling.csv; make_router_detailed_report.py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45720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585254"/>
                </a:solidFill>
                <a:latin typeface="Arial"/>
              </a:defRPr>
            </a:pPr>
            <a:r>
              <a:t>13</a:t>
            </a:r>
          </a:p>
        </p:txBody>
      </p:sp>
      <p:pic>
        <p:nvPicPr>
          <p:cNvPr id="8" name="Picture 7" descr="synthetic_crosso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8875" y="1828800"/>
            <a:ext cx="7303770" cy="38953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94360" y="5806440"/>
            <a:ext cx="10972800" cy="51206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35796D"/>
                </a:solidFill>
                <a:latin typeface="Arial"/>
              </a:defRPr>
            </a:pPr>
            <a:r>
              <a:t>One-shot median: 0.486x at 8k → 1.725x at 32k → 3.558x at 65,536.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005840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1000" b="1">
                <a:solidFill>
                  <a:srgbClr val="35796D"/>
                </a:solidFill>
                <a:latin typeface="Arial"/>
              </a:defRPr>
            </a:pPr>
            <a:r>
              <a:t>LINEAR ATTENTION / EXPERIMENT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47120" cy="6949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3000" b="0">
                <a:solidFill>
                  <a:srgbClr val="251F21"/>
                </a:solidFill>
                <a:latin typeface="Georgia"/>
              </a:defRPr>
            </a:pPr>
            <a:r>
              <a:t>Passing sampled probes is not an accuracy guarantee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98448"/>
            <a:ext cx="11155680" cy="502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585254"/>
                </a:solidFill>
                <a:latin typeface="Arial"/>
              </a:defRPr>
            </a:pPr>
            <a:r>
              <a:t>Mean relative L2 = average output-vector difference relative to the exact output size.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19088"/>
            <a:ext cx="11247120" cy="10972"/>
          </a:xfrm>
          <a:prstGeom prst="rect">
            <a:avLst/>
          </a:prstGeom>
          <a:solidFill>
            <a:srgbClr val="EAE9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0789920" cy="2103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585254"/>
                </a:solidFill>
                <a:latin typeface="Arial"/>
              </a:defRPr>
            </a:pPr>
            <a:r>
              <a:t>Source: results/router_detailed/sensitivity_heads.csv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45720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585254"/>
                </a:solidFill>
                <a:latin typeface="Arial"/>
              </a:defRPr>
            </a:pPr>
            <a:r>
              <a:t>14</a:t>
            </a:r>
          </a:p>
        </p:txBody>
      </p:sp>
      <p:pic>
        <p:nvPicPr>
          <p:cNvPr id="8" name="Picture 7" descr="probe_audit_failu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1580" y="1828800"/>
            <a:ext cx="9738360" cy="38953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94360" y="5806440"/>
            <a:ext cx="10972800" cy="51206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35796D"/>
                </a:solidFill>
                <a:latin typeface="Arial"/>
              </a:defRPr>
            </a:pPr>
            <a:r>
              <a:t>Of 1,006 accepted linear cases at .1 / 16 probes: 2.8% fail audit mean; 34.8% fail p95.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005840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1000" b="1">
                <a:solidFill>
                  <a:srgbClr val="35796D"/>
                </a:solidFill>
                <a:latin typeface="Arial"/>
              </a:defRPr>
            </a:pPr>
            <a:r>
              <a:t>LINEAR ATTENTION / EXPERIMENT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47120" cy="6949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3000" b="0">
                <a:solidFill>
                  <a:srgbClr val="251F21"/>
                </a:solidFill>
                <a:latin typeface="Georgia"/>
              </a:defRPr>
            </a:pPr>
            <a:r>
              <a:t>A small mean can hide a severe rare-query error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98448"/>
            <a:ext cx="11155680" cy="502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585254"/>
                </a:solidFill>
                <a:latin typeface="Arial"/>
              </a:defRPr>
            </a:pPr>
            <a:r>
              <a:t>All-query audit through N=4096. The p95 is the error below which 95% of queries fall.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19088"/>
            <a:ext cx="11247120" cy="10972"/>
          </a:xfrm>
          <a:prstGeom prst="rect">
            <a:avLst/>
          </a:prstGeom>
          <a:solidFill>
            <a:srgbClr val="EAE9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0789920" cy="2103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585254"/>
                </a:solidFill>
                <a:latin typeface="Arial"/>
              </a:defRPr>
            </a:pPr>
            <a:r>
              <a:t>Source: results/router_detailed/scaling_heads.csv; validation_scope=all_query_rows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45720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585254"/>
                </a:solidFill>
                <a:latin typeface="Arial"/>
              </a:defRPr>
            </a:pPr>
            <a:r>
              <a:t>15</a:t>
            </a:r>
          </a:p>
        </p:txBody>
      </p:sp>
      <p:pic>
        <p:nvPicPr>
          <p:cNvPr id="8" name="Picture 7" descr="all_query_erro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0684" y="1828800"/>
            <a:ext cx="8240150" cy="38953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94360" y="5806440"/>
            <a:ext cx="10972800" cy="51206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35796D"/>
                </a:solidFill>
                <a:latin typeface="Arial"/>
              </a:defRPr>
            </a:pPr>
            <a:r>
              <a:t>Rare-sharp: mean and p95 &lt;0.1, but worst-query relative error reaches 1.015.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005840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1000" b="1">
                <a:solidFill>
                  <a:srgbClr val="35796D"/>
                </a:solidFill>
                <a:latin typeface="Arial"/>
              </a:defRPr>
            </a:pPr>
            <a:r>
              <a:t>LINEAR ATTENTION / EXPERIMENT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47120" cy="6949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3000" b="0">
                <a:solidFill>
                  <a:srgbClr val="251F21"/>
                </a:solidFill>
                <a:latin typeface="Georgia"/>
              </a:defRPr>
            </a:pPr>
            <a:r>
              <a:t>Cached ranks become unsafe under tested drift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98448"/>
            <a:ext cx="11155680" cy="502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585254"/>
                </a:solidFill>
                <a:latin typeface="Arial"/>
              </a:defRPr>
            </a:pPr>
            <a:r>
              <a:t>Reuse must be checked on changed inputs, not justified by same-input timing alone.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19088"/>
            <a:ext cx="11247120" cy="10972"/>
          </a:xfrm>
          <a:prstGeom prst="rect">
            <a:avLst/>
          </a:prstGeom>
          <a:solidFill>
            <a:srgbClr val="EAE9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0789920" cy="2103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585254"/>
                </a:solidFill>
                <a:latin typeface="Arial"/>
              </a:defRPr>
            </a:pPr>
            <a:r>
              <a:t>Source: results/router_detailed/scaling_heads.csv; nonempty cache_target, rank&gt;0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45720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585254"/>
                </a:solidFill>
                <a:latin typeface="Arial"/>
              </a:defRPr>
            </a:pPr>
            <a:r>
              <a:t>16</a:t>
            </a:r>
          </a:p>
        </p:txBody>
      </p:sp>
      <p:pic>
        <p:nvPicPr>
          <p:cNvPr id="8" name="Picture 7" descr="cache_dri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6777" y="1828800"/>
            <a:ext cx="8287965" cy="38953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94360" y="5806440"/>
            <a:ext cx="10972800" cy="51206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35796D"/>
                </a:solidFill>
                <a:latin typeface="Arial"/>
              </a:defRPr>
            </a:pPr>
            <a:r>
              <a:t>Every tested unit-scale drift case exceeds .1 mean and p95 error (1,346 reused-linear heads).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005840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1000" b="1">
                <a:solidFill>
                  <a:srgbClr val="35796D"/>
                </a:solidFill>
                <a:latin typeface="Arial"/>
              </a:defRPr>
            </a:pPr>
            <a:r>
              <a:t>LINEAR ATTENTION / EXPERIMENT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47120" cy="6949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3000" b="0">
                <a:solidFill>
                  <a:srgbClr val="251F21"/>
                </a:solidFill>
                <a:latin typeface="Georgia"/>
              </a:defRPr>
            </a:pPr>
            <a:r>
              <a:t>Limits are part of the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98448"/>
            <a:ext cx="11155680" cy="502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585254"/>
                </a:solidFill>
                <a:latin typeface="Arial"/>
              </a:defRPr>
            </a:pPr>
            <a:r>
              <a:t>A benchmark boundary is useful only when its scope is explicit.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19088"/>
            <a:ext cx="11247120" cy="10972"/>
          </a:xfrm>
          <a:prstGeom prst="rect">
            <a:avLst/>
          </a:prstGeom>
          <a:solidFill>
            <a:srgbClr val="EAE9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0789920" cy="2103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585254"/>
                </a:solidFill>
                <a:latin typeface="Arial"/>
              </a:defRPr>
            </a:pPr>
            <a:r>
              <a:t>Source: manifests; qwen_data_manifest.json; results/router_detailed/post_result_changes.md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45720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585254"/>
                </a:solidFill>
                <a:latin typeface="Arial"/>
              </a:defRPr>
            </a:pPr>
            <a:r>
              <a:t>17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965960"/>
            <a:ext cx="5303520" cy="3611880"/>
          </a:xfrm>
          <a:prstGeom prst="rect">
            <a:avLst/>
          </a:prstGeom>
          <a:solidFill>
            <a:srgbClr val="F4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2130552"/>
            <a:ext cx="4901183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35796D"/>
                </a:solidFill>
                <a:latin typeface="Arial"/>
              </a:defRPr>
            </a:pPr>
            <a:r>
              <a:t>Evidence stops 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2752344"/>
            <a:ext cx="4901183" cy="2697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251F21"/>
                </a:solidFill>
                <a:latin typeface="Arial"/>
              </a:defRPr>
            </a:pPr>
            <a:r>
              <a:t>One T4, one model, one corpus</a:t>
            </a:r>
          </a:p>
          <a:p>
            <a:pPr>
              <a:spcAft>
                <a:spcPts val="1000"/>
              </a:spcAft>
              <a:defRPr sz="1900" b="0">
                <a:solidFill>
                  <a:srgbClr val="251F21"/>
                </a:solidFill>
                <a:latin typeface="Arial"/>
              </a:defRPr>
            </a:pPr>
            <a:r>
              <a:t>16 quality windows, selected layers</a:t>
            </a:r>
          </a:p>
          <a:p>
            <a:pPr>
              <a:spcAft>
                <a:spcPts val="1000"/>
              </a:spcAft>
              <a:defRPr sz="1900" b="0">
                <a:solidFill>
                  <a:srgbClr val="251F21"/>
                </a:solidFill>
                <a:latin typeface="Arial"/>
              </a:defRPr>
            </a:pPr>
            <a:r>
              <a:t>Qwen quality only at 2048</a:t>
            </a:r>
          </a:p>
          <a:p>
            <a:pPr>
              <a:spcAft>
                <a:spcPts val="1000"/>
              </a:spcAft>
              <a:defRPr sz="1900" b="0">
                <a:solidFill>
                  <a:srgbClr val="251F21"/>
                </a:solidFill>
                <a:latin typeface="Arial"/>
              </a:defRPr>
            </a:pPr>
            <a:r>
              <a:t>Detailed model speed only through 8192</a:t>
            </a:r>
          </a:p>
          <a:p>
            <a:pPr>
              <a:spcAft>
                <a:spcPts val="1000"/>
              </a:spcAft>
              <a:defRPr sz="1900" b="0">
                <a:solidFill>
                  <a:srgbClr val="251F21"/>
                </a:solidFill>
                <a:latin typeface="Arial"/>
              </a:defRPr>
            </a:pPr>
            <a:r>
              <a:t>Full-query synthetic audit only through 4096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965960"/>
            <a:ext cx="5349240" cy="3611880"/>
          </a:xfrm>
          <a:prstGeom prst="rect">
            <a:avLst/>
          </a:prstGeom>
          <a:solidFill>
            <a:srgbClr val="F4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3368" y="2130552"/>
            <a:ext cx="4946903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35796D"/>
                </a:solidFill>
                <a:latin typeface="Arial"/>
              </a:defRPr>
            </a:pPr>
            <a:r>
              <a:t>Execution history is preserved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3368" y="2752344"/>
            <a:ext cx="4946903" cy="2697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251F21"/>
                </a:solidFill>
                <a:latin typeface="Arial"/>
              </a:defRPr>
            </a:pPr>
            <a:r>
              <a:t>First follow-up failed at Qwen capture:</a:t>
            </a:r>
          </a:p>
          <a:p>
            <a:pPr>
              <a:spcAft>
                <a:spcPts val="1000"/>
              </a:spcAft>
              <a:defRPr sz="1900" b="0">
                <a:solidFill>
                  <a:srgbClr val="251F21"/>
                </a:solidFill>
                <a:latin typeface="Arial"/>
              </a:defRPr>
            </a:pPr>
            <a:r>
              <a:t>a two-value return was unpacked as three.</a:t>
            </a:r>
          </a:p>
          <a:p>
            <a:pPr>
              <a:spcAft>
                <a:spcPts val="1000"/>
              </a:spcAft>
              <a:defRPr sz="1900" b="0">
                <a:solidFill>
                  <a:srgbClr val="251F21"/>
                </a:solidFill>
                <a:latin typeface="Arial"/>
              </a:defRPr>
            </a:pPr>
            <a:r>
              <a:t>One-line fix + regression test.</a:t>
            </a:r>
          </a:p>
          <a:p>
            <a:pPr>
              <a:spcAft>
                <a:spcPts val="1000"/>
              </a:spcAft>
              <a:defRPr sz="1900" b="0">
                <a:solidFill>
                  <a:srgbClr val="251F21"/>
                </a:solidFill>
                <a:latin typeface="Arial"/>
              </a:defRPr>
            </a:pPr>
            <a:r>
              <a:t>Only Qwen resumed; settings unchanged.</a:t>
            </a:r>
          </a:p>
          <a:p>
            <a:pPr>
              <a:spcAft>
                <a:spcPts val="1000"/>
              </a:spcAft>
              <a:defRPr sz="1900" b="0">
                <a:solidFill>
                  <a:srgbClr val="251F21"/>
                </a:solidFill>
                <a:latin typeface="Arial"/>
              </a:defRPr>
            </a:pPr>
            <a:r>
              <a:t>Original source and partial manifest retained.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5852160"/>
            <a:ext cx="109728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35796D"/>
                </a:solidFill>
                <a:latin typeface="Arial"/>
              </a:defRPr>
            </a:pPr>
            <a:r>
              <a:t>Finite outputs ≠ safe approximation. No decode result. No extrapolated Qwen crossover.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005840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1000" b="1">
                <a:solidFill>
                  <a:srgbClr val="35796D"/>
                </a:solidFill>
                <a:latin typeface="Arial"/>
              </a:defRPr>
            </a:pPr>
            <a:r>
              <a:t>LINEAR ATTENTION / EXPERIMENT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47120" cy="6949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3000" b="0">
                <a:solidFill>
                  <a:srgbClr val="251F21"/>
                </a:solidFill>
                <a:latin typeface="Georgia"/>
              </a:defRPr>
            </a:pPr>
            <a:r>
              <a:t>Conclusion: keep the negative result intact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98448"/>
            <a:ext cx="11155680" cy="502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585254"/>
                </a:solidFill>
                <a:latin typeface="Arial"/>
              </a:defRPr>
            </a:pPr>
            <a:r>
              <a:t>The contribution is a measured boundary and a tested failure mode, not a speedup claim.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19088"/>
            <a:ext cx="11247120" cy="10972"/>
          </a:xfrm>
          <a:prstGeom prst="rect">
            <a:avLst/>
          </a:prstGeom>
          <a:solidFill>
            <a:srgbClr val="EAE9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0789920" cy="2103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585254"/>
                </a:solidFill>
                <a:latin typeface="Arial"/>
              </a:defRPr>
            </a:pPr>
            <a:r>
              <a:t>Source: all repository CSVs; current SUMMARY.md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45720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585254"/>
                </a:solidFill>
                <a:latin typeface="Arial"/>
              </a:defRPr>
            </a:pPr>
            <a: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2011680"/>
            <a:ext cx="5303520" cy="3108960"/>
          </a:xfrm>
          <a:prstGeom prst="rect">
            <a:avLst/>
          </a:prstGeom>
          <a:solidFill>
            <a:srgbClr val="F4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2176272"/>
            <a:ext cx="4901183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35796D"/>
                </a:solidFill>
                <a:latin typeface="Arial"/>
              </a:defRPr>
            </a:pPr>
            <a:r>
              <a:t>What the evidence says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2798064"/>
            <a:ext cx="4901183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251F21"/>
                </a:solidFill>
                <a:latin typeface="Arial"/>
              </a:defRPr>
            </a:pPr>
            <a:r>
              <a:t>Long synthetic inputs can be cheaper.</a:t>
            </a:r>
          </a:p>
          <a:p>
            <a:pPr>
              <a:spcAft>
                <a:spcPts val="1000"/>
              </a:spcAft>
              <a:defRPr sz="1900" b="0">
                <a:solidFill>
                  <a:srgbClr val="251F21"/>
                </a:solidFill>
                <a:latin typeface="Arial"/>
              </a:defRPr>
            </a:pPr>
            <a:r>
              <a:t>Sharp selection is fragile.</a:t>
            </a:r>
          </a:p>
          <a:p>
            <a:pPr>
              <a:spcAft>
                <a:spcPts val="1000"/>
              </a:spcAft>
              <a:defRPr sz="1900" b="0">
                <a:solidFill>
                  <a:srgbClr val="251F21"/>
                </a:solidFill>
                <a:latin typeface="Arial"/>
              </a:defRPr>
            </a:pPr>
            <a:r>
              <a:t>Mean-probe acceptance misses tails.</a:t>
            </a:r>
          </a:p>
          <a:p>
            <a:pPr>
              <a:spcAft>
                <a:spcPts val="1000"/>
              </a:spcAft>
              <a:defRPr sz="1900" b="0">
                <a:solidFill>
                  <a:srgbClr val="251F21"/>
                </a:solidFill>
                <a:latin typeface="Arial"/>
              </a:defRPr>
            </a:pPr>
            <a:r>
              <a:t>The current router is not a Qwen accelerator.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2011680"/>
            <a:ext cx="5349240" cy="3108960"/>
          </a:xfrm>
          <a:prstGeom prst="rect">
            <a:avLst/>
          </a:prstGeom>
          <a:solidFill>
            <a:srgbClr val="F4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3368" y="2176272"/>
            <a:ext cx="4946903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35796D"/>
                </a:solidFill>
                <a:latin typeface="Arial"/>
              </a:defRPr>
            </a:pPr>
            <a:r>
              <a:t>What a next version must prove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3368" y="2798064"/>
            <a:ext cx="4946903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251F21"/>
                </a:solidFill>
                <a:latin typeface="Arial"/>
              </a:defRPr>
            </a:pPr>
            <a:r>
              <a:t>Tail / worst-query acceptance criteria</a:t>
            </a:r>
          </a:p>
          <a:p>
            <a:pPr>
              <a:spcAft>
                <a:spcPts val="1000"/>
              </a:spcAft>
              <a:defRPr sz="1900" b="0">
                <a:solidFill>
                  <a:srgbClr val="251F21"/>
                </a:solidFill>
                <a:latin typeface="Arial"/>
              </a:defRPr>
            </a:pPr>
            <a:r>
              <a:t>Numerical stability on real activations</a:t>
            </a:r>
          </a:p>
          <a:p>
            <a:pPr>
              <a:spcAft>
                <a:spcPts val="1000"/>
              </a:spcAft>
              <a:defRPr sz="1900" b="0">
                <a:solidFill>
                  <a:srgbClr val="251F21"/>
                </a:solidFill>
                <a:latin typeface="Arial"/>
              </a:defRPr>
            </a:pPr>
            <a:r>
              <a:t>Drift-aware cache invalidation</a:t>
            </a:r>
          </a:p>
          <a:p>
            <a:pPr>
              <a:spcAft>
                <a:spcPts val="1000"/>
              </a:spcAft>
              <a:defRPr sz="1900" b="0">
                <a:solidFill>
                  <a:srgbClr val="251F21"/>
                </a:solidFill>
                <a:latin typeface="Arial"/>
              </a:defRPr>
            </a:pPr>
            <a:r>
              <a:t>Matched real-model latency + quality wins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5486400"/>
            <a:ext cx="10972800" cy="5943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35796D"/>
                </a:solidFill>
                <a:latin typeface="Arial"/>
              </a:defRPr>
            </a:pPr>
            <a:r>
              <a:t>Proposed tests are future work, not implemented capabilities or predicted successes.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005840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1000" b="1">
                <a:solidFill>
                  <a:srgbClr val="35796D"/>
                </a:solidFill>
                <a:latin typeface="Arial"/>
              </a:defRPr>
            </a:pPr>
            <a:r>
              <a:t>LINEAR ATTENTION / EXPERIMENT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47120" cy="6949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3000" b="0">
                <a:solidFill>
                  <a:srgbClr val="251F21"/>
                </a:solidFill>
                <a:latin typeface="Georgia"/>
              </a:defRPr>
            </a:pPr>
            <a:r>
              <a:t>Reproducibility and review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98448"/>
            <a:ext cx="11155680" cy="502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585254"/>
                </a:solidFill>
                <a:latin typeface="Arial"/>
              </a:defRPr>
            </a:pPr>
            <a:r>
              <a:t>Every number is traceable to CSV rows. Charts are the original repository figures.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419088"/>
            <a:ext cx="11247120" cy="10972"/>
          </a:xfrm>
          <a:prstGeom prst="rect">
            <a:avLst/>
          </a:prstGeom>
          <a:solidFill>
            <a:srgbClr val="EAE9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0789920" cy="2103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585254"/>
                </a:solidFill>
                <a:latin typeface="Arial"/>
              </a:defRPr>
            </a:pPr>
            <a:r>
              <a:t>Source snapshot: 8096d83526f4d134778e438484fc02a5ff1f2af7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45720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585254"/>
                </a:solidFill>
                <a:latin typeface="Arial"/>
              </a:defRPr>
            </a:pPr>
            <a: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965960"/>
          <a:ext cx="10972799" cy="3154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7498079"/>
              </a:tblGrid>
              <a:tr h="52578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Review topic</a:t>
                      </a:r>
                    </a:p>
                  </a:txBody>
                  <a:tcPr marL="109728" marR="109728" marT="91440" marB="91440">
                    <a:solidFill>
                      <a:srgbClr val="35796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Primary saved evidence</a:t>
                      </a:r>
                    </a:p>
                  </a:txBody>
                  <a:tcPr marL="109728" marR="109728" marT="91440" marB="91440">
                    <a:solidFill>
                      <a:srgbClr val="35796D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251F21"/>
                          </a:solidFill>
                          <a:latin typeface="Arial"/>
                        </a:defRPr>
                      </a:pPr>
                      <a:r>
                        <a:t>Basic speed / memory / lookup</a:t>
                      </a:r>
                    </a:p>
                  </a:txBody>
                  <a:tcPr marL="109728" marR="109728" marT="91440" marB="91440">
                    <a:solidFill>
                      <a:srgbClr val="F4EFE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251F21"/>
                          </a:solidFill>
                          <a:latin typeface="Arial"/>
                        </a:defRPr>
                      </a:pPr>
                      <a:r>
                        <a:t>results/efficiency.csv; retrieval.csv</a:t>
                      </a:r>
                    </a:p>
                  </a:txBody>
                  <a:tcPr marL="109728" marR="109728" marT="91440" marB="91440">
                    <a:solidFill>
                      <a:srgbClr val="F4EFEC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251F21"/>
                          </a:solidFill>
                          <a:latin typeface="Arial"/>
                        </a:defRPr>
                      </a:pPr>
                      <a:r>
                        <a:t>Original model swaps / adaptive tests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251F21"/>
                          </a:solidFill>
                          <a:latin typeface="Arial"/>
                        </a:defRPr>
                      </a:pPr>
                      <a:r>
                        <a:t>results/qwen_*.csv; adaptive_*.csv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251F21"/>
                          </a:solidFill>
                          <a:latin typeface="Arial"/>
                        </a:defRPr>
                      </a:pPr>
                      <a:r>
                        <a:t>Detailed synthetic speed / errors / drift</a:t>
                      </a:r>
                    </a:p>
                  </a:txBody>
                  <a:tcPr marL="109728" marR="109728" marT="91440" marB="91440">
                    <a:solidFill>
                      <a:srgbClr val="F4EFE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251F21"/>
                          </a:solidFill>
                          <a:latin typeface="Arial"/>
                        </a:defRPr>
                      </a:pPr>
                      <a:r>
                        <a:t>router_detailed/: scaling, scaling_heads, sensitivity_heads CSVs</a:t>
                      </a:r>
                    </a:p>
                  </a:txBody>
                  <a:tcPr marL="109728" marR="109728" marT="91440" marB="91440">
                    <a:solidFill>
                      <a:srgbClr val="F4EFEC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251F21"/>
                          </a:solidFill>
                          <a:latin typeface="Arial"/>
                        </a:defRPr>
                      </a:pPr>
                      <a:r>
                        <a:t>Detailed Qwen quality / latency / fallback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251F21"/>
                          </a:solidFill>
                          <a:latin typeface="Arial"/>
                        </a:defRPr>
                      </a:pPr>
                      <a:r>
                        <a:t>router_detailed_qwen/: quality, prefill, choices CSVs</a:t>
                      </a:r>
                    </a:p>
                  </a:txBody>
                  <a:tcPr marL="109728" marR="109728" marT="91440" marB="91440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251F21"/>
                          </a:solidFill>
                          <a:latin typeface="Arial"/>
                        </a:defRPr>
                      </a:pPr>
                      <a:r>
                        <a:t>Environment / failure / provenance</a:t>
                      </a:r>
                    </a:p>
                  </a:txBody>
                  <a:tcPr marL="109728" marR="109728" marT="91440" marB="91440">
                    <a:solidFill>
                      <a:srgbClr val="F4EFE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251F21"/>
                          </a:solidFill>
                          <a:latin typeface="Arial"/>
                        </a:defRPr>
                      </a:pPr>
                      <a:r>
                        <a:t>Run configs; manifests; original source; change disclosure</a:t>
                      </a:r>
                    </a:p>
                  </a:txBody>
                  <a:tcPr marL="109728" marR="109728" marT="91440" marB="91440">
                    <a:solidFill>
                      <a:srgbClr val="F4EF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94360" y="5504688"/>
            <a:ext cx="10972800" cy="8229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35796D"/>
                </a:solidFill>
                <a:latin typeface="Arial"/>
              </a:defRPr>
            </a:pPr>
            <a:r>
              <a:t>Repository: github.com/Jaiadithya71/linear-attention-benchmark</a:t>
            </a:r>
          </a:p>
          <a:p>
            <a:pPr>
              <a:spcAft>
                <a:spcPts val="1000"/>
              </a:spcAft>
              <a:defRPr sz="1500" b="1">
                <a:solidFill>
                  <a:srgbClr val="35796D"/>
                </a:solidFill>
                <a:latin typeface="Arial"/>
              </a:defRPr>
            </a:pPr>
            <a:r>
              <a:t>Newcomer documentation: docs/PROJECT_GUIDE.md</a:t>
            </a:r>
          </a:p>
          <a:p>
            <a:pPr>
              <a:spcAft>
                <a:spcPts val="1000"/>
              </a:spcAft>
              <a:defRPr sz="1500" b="1">
                <a:solidFill>
                  <a:srgbClr val="35796D"/>
                </a:solidFill>
                <a:latin typeface="Arial"/>
              </a:defRPr>
            </a:pPr>
            <a:r>
              <a:t>Recreate detailed figures: python make_router_detailed_report.py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